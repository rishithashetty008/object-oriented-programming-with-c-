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Open Sauce Bold" charset="1" panose="00000800000000000000"/>
      <p:regular r:id="rId25"/>
    </p:embeddedFont>
    <p:embeddedFont>
      <p:font typeface="Open Sauce" charset="1" panose="00000500000000000000"/>
      <p:regular r:id="rId26"/>
    </p:embeddedFont>
    <p:embeddedFont>
      <p:font typeface="Open Sauce Semi-Bold" charset="1" panose="00000700000000000000"/>
      <p:regular r:id="rId27"/>
    </p:embeddedFont>
    <p:embeddedFont>
      <p:font typeface="Arimo Bold" charset="1" panose="020B0704020202020204"/>
      <p:regular r:id="rId28"/>
    </p:embeddedFont>
    <p:embeddedFont>
      <p:font typeface="Open Sauce Medium" charset="1" panose="00000600000000000000"/>
      <p:regular r:id="rId29"/>
    </p:embeddedFont>
    <p:embeddedFont>
      <p:font typeface="CanvaSansSC-Regular" charset="1" panose="00000000000000000000"/>
      <p:regular r:id="rId30"/>
    </p:embeddedFont>
    <p:embeddedFont>
      <p:font typeface="Arimo" charset="1" panose="020B0604020202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jpe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svg" Type="http://schemas.openxmlformats.org/officeDocument/2006/relationships/image"/><Relationship Id="rId7" Target="../media/image7.svg" Type="http://schemas.openxmlformats.org/officeDocument/2006/relationships/image"/><Relationship Id="rId8" Target="../media/image8.sv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2" Target="../media/image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jpe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2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2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11" Target="../media/image41.png" Type="http://schemas.openxmlformats.org/officeDocument/2006/relationships/image"/><Relationship Id="rId12" Target="../media/image42.svg" Type="http://schemas.openxmlformats.org/officeDocument/2006/relationships/image"/><Relationship Id="rId13" Target="../media/image43.svg" Type="http://schemas.openxmlformats.org/officeDocument/2006/relationships/image"/><Relationship Id="rId14" Target="../media/image44.svg" Type="http://schemas.openxmlformats.org/officeDocument/2006/relationships/image"/><Relationship Id="rId15" Target="../media/image22.png" Type="http://schemas.openxmlformats.org/officeDocument/2006/relationships/image"/><Relationship Id="rId16" Target="../media/image45.svg" Type="http://schemas.openxmlformats.org/officeDocument/2006/relationships/image"/><Relationship Id="rId17" Target="../media/image46.svg" Type="http://schemas.openxmlformats.org/officeDocument/2006/relationships/image"/><Relationship Id="rId18" Target="../media/image20.png" Type="http://schemas.openxmlformats.org/officeDocument/2006/relationships/image"/><Relationship Id="rId19" Target="../media/image47.svg" Type="http://schemas.openxmlformats.org/officeDocument/2006/relationships/image"/><Relationship Id="rId2" Target="../media/image1.jpeg" Type="http://schemas.openxmlformats.org/officeDocument/2006/relationships/image"/><Relationship Id="rId20" Target="../media/image48.sv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jpeg" Type="http://schemas.openxmlformats.org/officeDocument/2006/relationships/image"/><Relationship Id="rId6" Target="../media/image37.jpeg" Type="http://schemas.openxmlformats.org/officeDocument/2006/relationships/image"/><Relationship Id="rId7" Target="../media/image4.png" Type="http://schemas.openxmlformats.org/officeDocument/2006/relationships/image"/><Relationship Id="rId8" Target="../media/image38.sv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0.png" Type="http://schemas.openxmlformats.org/officeDocument/2006/relationships/image"/><Relationship Id="rId4" Target="https://github.com/rishithashetty008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476683"/>
            <a:ext cx="8985123" cy="5810317"/>
            <a:chOff x="0" y="0"/>
            <a:chExt cx="11980164" cy="7747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980164" cy="7747127"/>
            </a:xfrm>
            <a:custGeom>
              <a:avLst/>
              <a:gdLst/>
              <a:ahLst/>
              <a:cxnLst/>
              <a:rect r="r" b="b" t="t" l="l"/>
              <a:pathLst>
                <a:path h="7747127" w="11980164">
                  <a:moveTo>
                    <a:pt x="0" y="0"/>
                  </a:moveTo>
                  <a:lnTo>
                    <a:pt x="11980164" y="0"/>
                  </a:lnTo>
                  <a:lnTo>
                    <a:pt x="11980164" y="7747127"/>
                  </a:lnTo>
                  <a:lnTo>
                    <a:pt x="0" y="7747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7140" t="0" r="-29" b="-13355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76184" y="510797"/>
            <a:ext cx="15335631" cy="1999212"/>
            <a:chOff x="0" y="0"/>
            <a:chExt cx="20447508" cy="26656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47508" cy="2665603"/>
            </a:xfrm>
            <a:custGeom>
              <a:avLst/>
              <a:gdLst/>
              <a:ahLst/>
              <a:cxnLst/>
              <a:rect r="r" b="b" t="t" l="l"/>
              <a:pathLst>
                <a:path h="2665603" w="20447508">
                  <a:moveTo>
                    <a:pt x="0" y="0"/>
                  </a:moveTo>
                  <a:lnTo>
                    <a:pt x="20447508" y="0"/>
                  </a:lnTo>
                  <a:lnTo>
                    <a:pt x="20447508" y="2665603"/>
                  </a:lnTo>
                  <a:lnTo>
                    <a:pt x="0" y="2665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60" r="-3" b="-165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2480" y="3971544"/>
            <a:ext cx="944880" cy="548640"/>
            <a:chOff x="0" y="0"/>
            <a:chExt cx="94488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413" y="1270"/>
              <a:ext cx="942340" cy="544703"/>
            </a:xfrm>
            <a:custGeom>
              <a:avLst/>
              <a:gdLst/>
              <a:ahLst/>
              <a:cxnLst/>
              <a:rect r="r" b="b" t="t" l="l"/>
              <a:pathLst>
                <a:path h="544703" w="942340">
                  <a:moveTo>
                    <a:pt x="656590" y="0"/>
                  </a:moveTo>
                  <a:lnTo>
                    <a:pt x="399161" y="257683"/>
                  </a:lnTo>
                  <a:lnTo>
                    <a:pt x="456565" y="315087"/>
                  </a:lnTo>
                  <a:lnTo>
                    <a:pt x="714121" y="57404"/>
                  </a:lnTo>
                  <a:lnTo>
                    <a:pt x="656590" y="0"/>
                  </a:lnTo>
                  <a:close/>
                  <a:moveTo>
                    <a:pt x="57404" y="260477"/>
                  </a:moveTo>
                  <a:lnTo>
                    <a:pt x="0" y="318008"/>
                  </a:lnTo>
                  <a:lnTo>
                    <a:pt x="226822" y="544703"/>
                  </a:lnTo>
                  <a:lnTo>
                    <a:pt x="284226" y="487299"/>
                  </a:lnTo>
                  <a:lnTo>
                    <a:pt x="57404" y="260477"/>
                  </a:lnTo>
                  <a:close/>
                  <a:moveTo>
                    <a:pt x="886460" y="0"/>
                  </a:moveTo>
                  <a:lnTo>
                    <a:pt x="456438" y="429895"/>
                  </a:lnTo>
                  <a:lnTo>
                    <a:pt x="287020" y="260477"/>
                  </a:lnTo>
                  <a:lnTo>
                    <a:pt x="229616" y="317881"/>
                  </a:lnTo>
                  <a:lnTo>
                    <a:pt x="456438" y="544703"/>
                  </a:lnTo>
                  <a:lnTo>
                    <a:pt x="942340" y="58801"/>
                  </a:lnTo>
                  <a:lnTo>
                    <a:pt x="942340" y="56007"/>
                  </a:lnTo>
                  <a:lnTo>
                    <a:pt x="886460" y="0"/>
                  </a:lnTo>
                  <a:close/>
                </a:path>
              </a:pathLst>
            </a:custGeom>
            <a:solidFill>
              <a:srgbClr val="3885A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58937" y="0"/>
            <a:ext cx="6829063" cy="6339945"/>
            <a:chOff x="0" y="0"/>
            <a:chExt cx="9105417" cy="84532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05392" cy="8453247"/>
            </a:xfrm>
            <a:custGeom>
              <a:avLst/>
              <a:gdLst/>
              <a:ahLst/>
              <a:cxnLst/>
              <a:rect r="r" b="b" t="t" l="l"/>
              <a:pathLst>
                <a:path h="8453247" w="9105392">
                  <a:moveTo>
                    <a:pt x="0" y="0"/>
                  </a:moveTo>
                  <a:lnTo>
                    <a:pt x="9105392" y="0"/>
                  </a:lnTo>
                  <a:lnTo>
                    <a:pt x="9105392" y="8453247"/>
                  </a:lnTo>
                  <a:lnTo>
                    <a:pt x="0" y="8453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4035" r="-133123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0796" y="3897868"/>
            <a:ext cx="1071220" cy="695249"/>
            <a:chOff x="0" y="0"/>
            <a:chExt cx="1071220" cy="6952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1245" cy="695198"/>
            </a:xfrm>
            <a:custGeom>
              <a:avLst/>
              <a:gdLst/>
              <a:ahLst/>
              <a:cxnLst/>
              <a:rect r="r" b="b" t="t" l="l"/>
              <a:pathLst>
                <a:path h="695198" w="1071245">
                  <a:moveTo>
                    <a:pt x="0" y="695198"/>
                  </a:moveTo>
                  <a:lnTo>
                    <a:pt x="1071245" y="695198"/>
                  </a:lnTo>
                  <a:lnTo>
                    <a:pt x="10712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029730" y="3079175"/>
            <a:ext cx="107328" cy="54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8"/>
              </a:lnSpc>
            </a:pPr>
            <a:r>
              <a:rPr lang="en-US" b="true" sz="309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37077" y="3779063"/>
            <a:ext cx="14620904" cy="189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575"/>
              </a:lnSpc>
            </a:pPr>
            <a:r>
              <a:rPr lang="en-US" b="true" sz="541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SUSTAINABLE E-COMMERCE PACKAGING  AND INVENTORY MANAGEMENT SYSTEM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43205" y="6394094"/>
            <a:ext cx="11101187" cy="54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8"/>
              </a:lnSpc>
            </a:pPr>
            <a:r>
              <a:rPr lang="en-US" sz="309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DSA0101 - OBJECT ORIENTED PROGRAMMING WITH C++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76575" y="7651842"/>
            <a:ext cx="4096893" cy="161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b="true" sz="309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BY:</a:t>
            </a:r>
          </a:p>
          <a:p>
            <a:pPr algn="l">
              <a:lnSpc>
                <a:spcPts val="4275"/>
              </a:lnSpc>
            </a:pPr>
            <a:r>
              <a:rPr lang="en-US" b="true" sz="309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NEHLA FATHIMA  A RISHITHA  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012514" y="8194767"/>
            <a:ext cx="2604602" cy="107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b="true" sz="309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[1971260019] [1971260015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71193" y="8482441"/>
            <a:ext cx="120291" cy="598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b="true" sz="3465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31393" y="9092041"/>
            <a:ext cx="120291" cy="598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b="true" sz="3465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76575" y="9271092"/>
            <a:ext cx="6967623" cy="54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8"/>
              </a:lnSpc>
            </a:pPr>
            <a:r>
              <a:rPr lang="en-US" b="true" sz="309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SANDHYARANI SETHI [1911260076]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0052" y="8482441"/>
            <a:ext cx="2560796" cy="58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b="true" sz="3465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GUIDED </a:t>
            </a:r>
            <a:r>
              <a:rPr lang="en-US" b="true" sz="3465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BY: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0052" y="9092041"/>
            <a:ext cx="7144345" cy="58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b="true" sz="3465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Dr. PARIMALA KANAGA DEVAN 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476683"/>
            <a:ext cx="8985123" cy="5810317"/>
            <a:chOff x="0" y="0"/>
            <a:chExt cx="11980164" cy="7747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980164" cy="7747127"/>
            </a:xfrm>
            <a:custGeom>
              <a:avLst/>
              <a:gdLst/>
              <a:ahLst/>
              <a:cxnLst/>
              <a:rect r="r" b="b" t="t" l="l"/>
              <a:pathLst>
                <a:path h="7747127" w="11980164">
                  <a:moveTo>
                    <a:pt x="0" y="0"/>
                  </a:moveTo>
                  <a:lnTo>
                    <a:pt x="11980164" y="0"/>
                  </a:lnTo>
                  <a:lnTo>
                    <a:pt x="11980164" y="7747127"/>
                  </a:lnTo>
                  <a:lnTo>
                    <a:pt x="0" y="7747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7140" t="0" r="-29" b="-13355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61328" y="0"/>
            <a:ext cx="8426672" cy="7171573"/>
            <a:chOff x="0" y="0"/>
            <a:chExt cx="11235563" cy="95620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35563" cy="9562084"/>
            </a:xfrm>
            <a:custGeom>
              <a:avLst/>
              <a:gdLst/>
              <a:ahLst/>
              <a:cxnLst/>
              <a:rect r="r" b="b" t="t" l="l"/>
              <a:pathLst>
                <a:path h="9562084" w="11235563">
                  <a:moveTo>
                    <a:pt x="0" y="0"/>
                  </a:moveTo>
                  <a:lnTo>
                    <a:pt x="11235563" y="0"/>
                  </a:lnTo>
                  <a:lnTo>
                    <a:pt x="11235563" y="9562084"/>
                  </a:lnTo>
                  <a:lnTo>
                    <a:pt x="0" y="9562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9215" r="-88925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185920"/>
            <a:ext cx="5634885" cy="135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83"/>
              </a:lnSpc>
            </a:pPr>
            <a:r>
              <a:rPr lang="en-US" b="true" sz="791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ABSTRACT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429" y="3031550"/>
            <a:ext cx="17086059" cy="542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22"/>
              </a:lnSpc>
            </a:pPr>
            <a:r>
              <a:rPr lang="en-US" b="true" sz="309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TheSus tainableE-Commerce Packaging Inventory Management System is a C++</a:t>
            </a:r>
          </a:p>
          <a:p>
            <a:pPr algn="just">
              <a:lnSpc>
                <a:spcPts val="4822"/>
              </a:lnSpc>
            </a:pPr>
            <a:r>
              <a:rPr lang="en-US" b="true" sz="309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based application designed to efficiently manage packaging materials used in e-</a:t>
            </a:r>
          </a:p>
          <a:p>
            <a:pPr algn="just">
              <a:lnSpc>
                <a:spcPts val="3576"/>
              </a:lnSpc>
            </a:pPr>
            <a:r>
              <a:rPr lang="en-US" b="true" sz="3091" spc="52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commerce operations. The system focuses on reducing packaging waste, avoiding</a:t>
            </a:r>
          </a:p>
          <a:p>
            <a:pPr algn="just">
              <a:lnSpc>
                <a:spcPts val="4822"/>
              </a:lnSpc>
            </a:pPr>
            <a:r>
              <a:rPr lang="en-US" b="true" sz="309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stock shortages and improving the selection of suitable packaging. It consists of</a:t>
            </a:r>
          </a:p>
          <a:p>
            <a:pPr algn="just">
              <a:lnSpc>
                <a:spcPts val="3576"/>
              </a:lnSpc>
            </a:pPr>
            <a:r>
              <a:rPr lang="en-US" b="true" sz="309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three major modules: Inventory Tracking, Smart Package Selection and Supplier</a:t>
            </a:r>
          </a:p>
          <a:p>
            <a:pPr algn="just">
              <a:lnSpc>
                <a:spcPts val="4822"/>
              </a:lnSpc>
            </a:pPr>
            <a:r>
              <a:rPr lang="en-US" b="true" sz="309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Reorder. Object-oriented programming concepts such as classes, objects,</a:t>
            </a:r>
          </a:p>
          <a:p>
            <a:pPr algn="just">
              <a:lnSpc>
                <a:spcPts val="3576"/>
              </a:lnSpc>
            </a:pPr>
            <a:r>
              <a:rPr lang="en-US" b="true" sz="3091" spc="3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encapsulation, constructors and member functions are used to develop the system.</a:t>
            </a:r>
          </a:p>
          <a:p>
            <a:pPr algn="just">
              <a:lnSpc>
                <a:spcPts val="4822"/>
              </a:lnSpc>
            </a:pPr>
            <a:r>
              <a:rPr lang="en-US" b="true" sz="309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By combining inventory monitoring with appropriate package selection and timely</a:t>
            </a:r>
          </a:p>
          <a:p>
            <a:pPr algn="just">
              <a:lnSpc>
                <a:spcPts val="3576"/>
              </a:lnSpc>
            </a:pPr>
            <a:r>
              <a:rPr lang="en-US" b="true" sz="309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supplier reordering, the system supports efficient and sustainable packaging</a:t>
            </a:r>
          </a:p>
          <a:p>
            <a:pPr algn="just">
              <a:lnSpc>
                <a:spcPts val="4822"/>
              </a:lnSpc>
            </a:pPr>
            <a:r>
              <a:rPr lang="en-US" b="true" sz="309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management.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936436"/>
            <a:ext cx="7762742" cy="5346573"/>
            <a:chOff x="0" y="0"/>
            <a:chExt cx="10350322" cy="71287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50373" cy="7128764"/>
            </a:xfrm>
            <a:custGeom>
              <a:avLst/>
              <a:gdLst/>
              <a:ahLst/>
              <a:cxnLst/>
              <a:rect r="r" b="b" t="t" l="l"/>
              <a:pathLst>
                <a:path h="7128764" w="10350373">
                  <a:moveTo>
                    <a:pt x="0" y="0"/>
                  </a:moveTo>
                  <a:lnTo>
                    <a:pt x="10350373" y="0"/>
                  </a:lnTo>
                  <a:lnTo>
                    <a:pt x="10350373" y="7128764"/>
                  </a:lnTo>
                  <a:lnTo>
                    <a:pt x="0" y="7128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5030" t="0" r="0" b="-15391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40519" y="0"/>
            <a:ext cx="8644642" cy="7226046"/>
            <a:chOff x="0" y="0"/>
            <a:chExt cx="11526190" cy="96347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26139" cy="9634728"/>
            </a:xfrm>
            <a:custGeom>
              <a:avLst/>
              <a:gdLst/>
              <a:ahLst/>
              <a:cxnLst/>
              <a:rect r="r" b="b" t="t" l="l"/>
              <a:pathLst>
                <a:path h="9634728" w="11526139">
                  <a:moveTo>
                    <a:pt x="0" y="0"/>
                  </a:moveTo>
                  <a:lnTo>
                    <a:pt x="11526139" y="0"/>
                  </a:lnTo>
                  <a:lnTo>
                    <a:pt x="11526139" y="9634728"/>
                  </a:lnTo>
                  <a:lnTo>
                    <a:pt x="0" y="9634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7835" r="-84141" b="-44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50893" y="3170634"/>
            <a:ext cx="107394" cy="107394"/>
          </a:xfrm>
          <a:custGeom>
            <a:avLst/>
            <a:gdLst/>
            <a:ahLst/>
            <a:cxnLst/>
            <a:rect r="r" b="b" t="t" l="l"/>
            <a:pathLst>
              <a:path h="107394" w="107394">
                <a:moveTo>
                  <a:pt x="0" y="0"/>
                </a:moveTo>
                <a:lnTo>
                  <a:pt x="107394" y="0"/>
                </a:lnTo>
                <a:lnTo>
                  <a:pt x="107394" y="107395"/>
                </a:lnTo>
                <a:lnTo>
                  <a:pt x="0" y="107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0893" y="4352001"/>
            <a:ext cx="107394" cy="107394"/>
          </a:xfrm>
          <a:custGeom>
            <a:avLst/>
            <a:gdLst/>
            <a:ahLst/>
            <a:cxnLst/>
            <a:rect r="r" b="b" t="t" l="l"/>
            <a:pathLst>
              <a:path h="107394" w="107394">
                <a:moveTo>
                  <a:pt x="0" y="0"/>
                </a:moveTo>
                <a:lnTo>
                  <a:pt x="107394" y="0"/>
                </a:lnTo>
                <a:lnTo>
                  <a:pt x="107394" y="107394"/>
                </a:lnTo>
                <a:lnTo>
                  <a:pt x="0" y="107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50893" y="5533368"/>
            <a:ext cx="107394" cy="107394"/>
          </a:xfrm>
          <a:custGeom>
            <a:avLst/>
            <a:gdLst/>
            <a:ahLst/>
            <a:cxnLst/>
            <a:rect r="r" b="b" t="t" l="l"/>
            <a:pathLst>
              <a:path h="107394" w="107394">
                <a:moveTo>
                  <a:pt x="0" y="0"/>
                </a:moveTo>
                <a:lnTo>
                  <a:pt x="107394" y="0"/>
                </a:lnTo>
                <a:lnTo>
                  <a:pt x="107394" y="107394"/>
                </a:lnTo>
                <a:lnTo>
                  <a:pt x="0" y="107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0893" y="6714744"/>
            <a:ext cx="107394" cy="107394"/>
          </a:xfrm>
          <a:custGeom>
            <a:avLst/>
            <a:gdLst/>
            <a:ahLst/>
            <a:cxnLst/>
            <a:rect r="r" b="b" t="t" l="l"/>
            <a:pathLst>
              <a:path h="107394" w="107394">
                <a:moveTo>
                  <a:pt x="0" y="0"/>
                </a:moveTo>
                <a:lnTo>
                  <a:pt x="107394" y="0"/>
                </a:lnTo>
                <a:lnTo>
                  <a:pt x="107394" y="107394"/>
                </a:lnTo>
                <a:lnTo>
                  <a:pt x="0" y="107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0893" y="7896111"/>
            <a:ext cx="107394" cy="107394"/>
          </a:xfrm>
          <a:custGeom>
            <a:avLst/>
            <a:gdLst/>
            <a:ahLst/>
            <a:cxnLst/>
            <a:rect r="r" b="b" t="t" l="l"/>
            <a:pathLst>
              <a:path h="107394" w="107394">
                <a:moveTo>
                  <a:pt x="0" y="0"/>
                </a:moveTo>
                <a:lnTo>
                  <a:pt x="107394" y="0"/>
                </a:lnTo>
                <a:lnTo>
                  <a:pt x="107394" y="107394"/>
                </a:lnTo>
                <a:lnTo>
                  <a:pt x="0" y="107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436781" y="1631051"/>
            <a:ext cx="7248525" cy="7143750"/>
            <a:chOff x="0" y="0"/>
            <a:chExt cx="9664700" cy="952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647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9664700">
                  <a:moveTo>
                    <a:pt x="0" y="0"/>
                  </a:moveTo>
                  <a:lnTo>
                    <a:pt x="9664700" y="0"/>
                  </a:lnTo>
                  <a:lnTo>
                    <a:pt x="9664700" y="9525000"/>
                  </a:lnTo>
                  <a:lnTo>
                    <a:pt x="0" y="952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1454" t="0" r="-21515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50893" y="3170634"/>
            <a:ext cx="107394" cy="107394"/>
            <a:chOff x="0" y="0"/>
            <a:chExt cx="107391" cy="1073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439" cy="107439"/>
            </a:xfrm>
            <a:custGeom>
              <a:avLst/>
              <a:gdLst/>
              <a:ahLst/>
              <a:cxnLst/>
              <a:rect r="r" b="b" t="t" l="l"/>
              <a:pathLst>
                <a:path h="107439" w="107439">
                  <a:moveTo>
                    <a:pt x="0" y="107439"/>
                  </a:moveTo>
                  <a:lnTo>
                    <a:pt x="107439" y="107439"/>
                  </a:lnTo>
                  <a:lnTo>
                    <a:pt x="1074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50893" y="4352001"/>
            <a:ext cx="107394" cy="107394"/>
            <a:chOff x="0" y="0"/>
            <a:chExt cx="107391" cy="1073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439" cy="107439"/>
            </a:xfrm>
            <a:custGeom>
              <a:avLst/>
              <a:gdLst/>
              <a:ahLst/>
              <a:cxnLst/>
              <a:rect r="r" b="b" t="t" l="l"/>
              <a:pathLst>
                <a:path h="107439" w="107439">
                  <a:moveTo>
                    <a:pt x="0" y="107439"/>
                  </a:moveTo>
                  <a:lnTo>
                    <a:pt x="107439" y="107439"/>
                  </a:lnTo>
                  <a:lnTo>
                    <a:pt x="1074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50893" y="5533368"/>
            <a:ext cx="107394" cy="107394"/>
            <a:chOff x="0" y="0"/>
            <a:chExt cx="107391" cy="1073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439" cy="107439"/>
            </a:xfrm>
            <a:custGeom>
              <a:avLst/>
              <a:gdLst/>
              <a:ahLst/>
              <a:cxnLst/>
              <a:rect r="r" b="b" t="t" l="l"/>
              <a:pathLst>
                <a:path h="107439" w="107439">
                  <a:moveTo>
                    <a:pt x="0" y="107439"/>
                  </a:moveTo>
                  <a:lnTo>
                    <a:pt x="107439" y="107439"/>
                  </a:lnTo>
                  <a:lnTo>
                    <a:pt x="1074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50893" y="6714744"/>
            <a:ext cx="107394" cy="107394"/>
            <a:chOff x="0" y="0"/>
            <a:chExt cx="107391" cy="1073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439" cy="107439"/>
            </a:xfrm>
            <a:custGeom>
              <a:avLst/>
              <a:gdLst/>
              <a:ahLst/>
              <a:cxnLst/>
              <a:rect r="r" b="b" t="t" l="l"/>
              <a:pathLst>
                <a:path h="107439" w="107439">
                  <a:moveTo>
                    <a:pt x="0" y="107439"/>
                  </a:moveTo>
                  <a:lnTo>
                    <a:pt x="107439" y="107439"/>
                  </a:lnTo>
                  <a:lnTo>
                    <a:pt x="1074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50893" y="7896111"/>
            <a:ext cx="107394" cy="107394"/>
            <a:chOff x="0" y="0"/>
            <a:chExt cx="107391" cy="1073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439" cy="107439"/>
            </a:xfrm>
            <a:custGeom>
              <a:avLst/>
              <a:gdLst/>
              <a:ahLst/>
              <a:cxnLst/>
              <a:rect r="r" b="b" t="t" l="l"/>
              <a:pathLst>
                <a:path h="107439" w="107439">
                  <a:moveTo>
                    <a:pt x="0" y="107439"/>
                  </a:moveTo>
                  <a:lnTo>
                    <a:pt x="107439" y="107439"/>
                  </a:lnTo>
                  <a:lnTo>
                    <a:pt x="1074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758667" y="2993003"/>
            <a:ext cx="7881852" cy="590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0"/>
              </a:lnSpc>
            </a:pPr>
            <a:r>
              <a:rPr lang="en-US" b="true" sz="3382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E-commerce uses large amounts of packaging materials.</a:t>
            </a:r>
          </a:p>
          <a:p>
            <a:pPr algn="just">
              <a:lnSpc>
                <a:spcPts val="4650"/>
              </a:lnSpc>
            </a:pPr>
            <a:r>
              <a:rPr lang="en-US" b="true" sz="3382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Poor packaging management can cause waste and extra cost.</a:t>
            </a:r>
          </a:p>
          <a:p>
            <a:pPr algn="just">
              <a:lnSpc>
                <a:spcPts val="4650"/>
              </a:lnSpc>
            </a:pPr>
            <a:r>
              <a:rPr lang="en-US" b="true" sz="3382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Proper inventory tracking prevents stock shortages.</a:t>
            </a:r>
          </a:p>
          <a:p>
            <a:pPr algn="just">
              <a:lnSpc>
                <a:spcPts val="4650"/>
              </a:lnSpc>
            </a:pPr>
            <a:r>
              <a:rPr lang="en-US" b="true" sz="3382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Smart package selection reduces unnecessary material use.</a:t>
            </a:r>
          </a:p>
          <a:p>
            <a:pPr algn="just">
              <a:lnSpc>
                <a:spcPts val="4650"/>
              </a:lnSpc>
            </a:pPr>
            <a:r>
              <a:rPr lang="en-US" b="true" sz="3382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Supplier reordering ensures packaging availability.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6103" y="862689"/>
            <a:ext cx="8307143" cy="135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83"/>
              </a:lnSpc>
            </a:pPr>
            <a:r>
              <a:rPr lang="en-US" b="true" sz="791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INTRODUCTION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9634" y="-1178176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00986" y="1545765"/>
            <a:ext cx="14214043" cy="8525399"/>
            <a:chOff x="0" y="0"/>
            <a:chExt cx="18952058" cy="113671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952083" cy="11367135"/>
            </a:xfrm>
            <a:custGeom>
              <a:avLst/>
              <a:gdLst/>
              <a:ahLst/>
              <a:cxnLst/>
              <a:rect r="r" b="b" t="t" l="l"/>
              <a:pathLst>
                <a:path h="11367135" w="18952083">
                  <a:moveTo>
                    <a:pt x="0" y="0"/>
                  </a:moveTo>
                  <a:lnTo>
                    <a:pt x="18952083" y="0"/>
                  </a:lnTo>
                  <a:lnTo>
                    <a:pt x="18952083" y="11367135"/>
                  </a:lnTo>
                  <a:lnTo>
                    <a:pt x="0" y="11367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22" t="0" r="-85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40519" y="0"/>
            <a:ext cx="8644642" cy="7226046"/>
            <a:chOff x="0" y="0"/>
            <a:chExt cx="11526190" cy="96347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26139" cy="9634728"/>
            </a:xfrm>
            <a:custGeom>
              <a:avLst/>
              <a:gdLst/>
              <a:ahLst/>
              <a:cxnLst/>
              <a:rect r="r" b="b" t="t" l="l"/>
              <a:pathLst>
                <a:path h="9634728" w="11526139">
                  <a:moveTo>
                    <a:pt x="0" y="0"/>
                  </a:moveTo>
                  <a:lnTo>
                    <a:pt x="11526139" y="0"/>
                  </a:lnTo>
                  <a:lnTo>
                    <a:pt x="11526139" y="9634728"/>
                  </a:lnTo>
                  <a:lnTo>
                    <a:pt x="0" y="9634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7835" r="-84141" b="-4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5143500"/>
            <a:ext cx="8144456" cy="5143500"/>
            <a:chOff x="0" y="0"/>
            <a:chExt cx="10859275" cy="685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59262" cy="6858000"/>
            </a:xfrm>
            <a:custGeom>
              <a:avLst/>
              <a:gdLst/>
              <a:ahLst/>
              <a:cxnLst/>
              <a:rect r="r" b="b" t="t" l="l"/>
              <a:pathLst>
                <a:path h="6858000" w="10859262">
                  <a:moveTo>
                    <a:pt x="0" y="0"/>
                  </a:moveTo>
                  <a:lnTo>
                    <a:pt x="10859262" y="0"/>
                  </a:lnTo>
                  <a:lnTo>
                    <a:pt x="1085926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5425" t="0" r="-32" b="-163829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71859" y="50406"/>
            <a:ext cx="10089652" cy="1275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1"/>
              </a:lnSpc>
            </a:pPr>
            <a:r>
              <a:rPr lang="en-US" b="true" sz="7372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LITERATURE SURVEY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0990" y="2038817"/>
            <a:ext cx="1400175" cy="1400175"/>
            <a:chOff x="0" y="0"/>
            <a:chExt cx="1866900" cy="1866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66900" cy="1866900"/>
            </a:xfrm>
            <a:custGeom>
              <a:avLst/>
              <a:gdLst/>
              <a:ahLst/>
              <a:cxnLst/>
              <a:rect r="r" b="b" t="t" l="l"/>
              <a:pathLst>
                <a:path h="1866900" w="1866900">
                  <a:moveTo>
                    <a:pt x="0" y="0"/>
                  </a:moveTo>
                  <a:lnTo>
                    <a:pt x="1866900" y="0"/>
                  </a:lnTo>
                  <a:lnTo>
                    <a:pt x="1866900" y="1866900"/>
                  </a:lnTo>
                  <a:lnTo>
                    <a:pt x="0" y="186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064210" y="4449061"/>
            <a:ext cx="1381125" cy="1381125"/>
            <a:chOff x="0" y="0"/>
            <a:chExt cx="1841500" cy="1841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415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1841500">
                  <a:moveTo>
                    <a:pt x="0" y="0"/>
                  </a:moveTo>
                  <a:lnTo>
                    <a:pt x="1841500" y="0"/>
                  </a:lnTo>
                  <a:lnTo>
                    <a:pt x="1841500" y="1841500"/>
                  </a:lnTo>
                  <a:lnTo>
                    <a:pt x="0" y="184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064210" y="6862524"/>
            <a:ext cx="1381125" cy="1381125"/>
            <a:chOff x="0" y="0"/>
            <a:chExt cx="1841500" cy="1841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15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1841500">
                  <a:moveTo>
                    <a:pt x="0" y="0"/>
                  </a:moveTo>
                  <a:lnTo>
                    <a:pt x="1841500" y="0"/>
                  </a:lnTo>
                  <a:lnTo>
                    <a:pt x="1841500" y="1841500"/>
                  </a:lnTo>
                  <a:lnTo>
                    <a:pt x="0" y="184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60562" y="1605934"/>
            <a:ext cx="5295900" cy="2247900"/>
            <a:chOff x="0" y="0"/>
            <a:chExt cx="7061200" cy="2997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1200" cy="2997200"/>
            </a:xfrm>
            <a:custGeom>
              <a:avLst/>
              <a:gdLst/>
              <a:ahLst/>
              <a:cxnLst/>
              <a:rect r="r" b="b" t="t" l="l"/>
              <a:pathLst>
                <a:path h="2997200" w="7061200">
                  <a:moveTo>
                    <a:pt x="0" y="0"/>
                  </a:moveTo>
                  <a:lnTo>
                    <a:pt x="7061200" y="0"/>
                  </a:lnTo>
                  <a:lnTo>
                    <a:pt x="7061200" y="2997200"/>
                  </a:lnTo>
                  <a:lnTo>
                    <a:pt x="0" y="299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60562" y="4016169"/>
            <a:ext cx="5295900" cy="4661373"/>
            <a:chOff x="0" y="0"/>
            <a:chExt cx="7061200" cy="62151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61200" cy="6215126"/>
            </a:xfrm>
            <a:custGeom>
              <a:avLst/>
              <a:gdLst/>
              <a:ahLst/>
              <a:cxnLst/>
              <a:rect r="r" b="b" t="t" l="l"/>
              <a:pathLst>
                <a:path h="6215126" w="7061200">
                  <a:moveTo>
                    <a:pt x="0" y="0"/>
                  </a:moveTo>
                  <a:lnTo>
                    <a:pt x="7061200" y="0"/>
                  </a:lnTo>
                  <a:lnTo>
                    <a:pt x="7061200" y="6215126"/>
                  </a:lnTo>
                  <a:lnTo>
                    <a:pt x="0" y="6215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13605" y="3437687"/>
            <a:ext cx="7331688" cy="4358773"/>
            <a:chOff x="0" y="0"/>
            <a:chExt cx="9775584" cy="58116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75571" cy="5811647"/>
            </a:xfrm>
            <a:custGeom>
              <a:avLst/>
              <a:gdLst/>
              <a:ahLst/>
              <a:cxnLst/>
              <a:rect r="r" b="b" t="t" l="l"/>
              <a:pathLst>
                <a:path h="5811647" w="9775571">
                  <a:moveTo>
                    <a:pt x="0" y="0"/>
                  </a:moveTo>
                  <a:lnTo>
                    <a:pt x="9775571" y="0"/>
                  </a:lnTo>
                  <a:lnTo>
                    <a:pt x="9775571" y="5811647"/>
                  </a:lnTo>
                  <a:lnTo>
                    <a:pt x="0" y="5811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4386" t="-41117" r="-2107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2039600" y="2578608"/>
            <a:ext cx="94488" cy="97536"/>
          </a:xfrm>
          <a:custGeom>
            <a:avLst/>
            <a:gdLst/>
            <a:ahLst/>
            <a:cxnLst/>
            <a:rect r="r" b="b" t="t" l="l"/>
            <a:pathLst>
              <a:path h="97536" w="94488">
                <a:moveTo>
                  <a:pt x="0" y="0"/>
                </a:moveTo>
                <a:lnTo>
                  <a:pt x="94488" y="0"/>
                </a:lnTo>
                <a:lnTo>
                  <a:pt x="94488" y="97536"/>
                </a:lnTo>
                <a:lnTo>
                  <a:pt x="0" y="975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042648" y="4986528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045696" y="7620000"/>
            <a:ext cx="76200" cy="73152"/>
          </a:xfrm>
          <a:custGeom>
            <a:avLst/>
            <a:gdLst/>
            <a:ahLst/>
            <a:cxnLst/>
            <a:rect r="r" b="b" t="t" l="l"/>
            <a:pathLst>
              <a:path h="73152" w="76200">
                <a:moveTo>
                  <a:pt x="0" y="0"/>
                </a:moveTo>
                <a:lnTo>
                  <a:pt x="76200" y="0"/>
                </a:lnTo>
                <a:lnTo>
                  <a:pt x="76200" y="73152"/>
                </a:lnTo>
                <a:lnTo>
                  <a:pt x="0" y="7315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49925" y="986495"/>
            <a:ext cx="6182296" cy="212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8"/>
              </a:lnSpc>
            </a:pPr>
            <a:r>
              <a:rPr lang="en-US" b="true" sz="7708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PROBLEM STATEMENT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1903" y="8200320"/>
            <a:ext cx="8381810" cy="135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1"/>
              </a:lnSpc>
            </a:pPr>
            <a:r>
              <a:rPr lang="en-US" b="true" sz="392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Higher cost + Material wastage + Inventory problems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11434" y="2319080"/>
            <a:ext cx="4209393" cy="91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b="true" sz="2250">
                <a:solidFill>
                  <a:srgbClr val="FBF6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Difficult to identify low-stock materials.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23121" y="4857531"/>
            <a:ext cx="3785892" cy="80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b="true" sz="2306">
                <a:solidFill>
                  <a:srgbClr val="FBF6F1"/>
                </a:solidFill>
                <a:latin typeface="Arimo Bold"/>
                <a:ea typeface="Arimo Bold"/>
                <a:cs typeface="Arimo Bold"/>
                <a:sym typeface="Arimo Bold"/>
              </a:rPr>
              <a:t>Use of unnecessarily large boxes.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21683" y="7483440"/>
            <a:ext cx="3987175" cy="39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b="true" sz="2271">
                <a:solidFill>
                  <a:srgbClr val="FBF6F1"/>
                </a:solidFill>
                <a:latin typeface="Arimo Bold"/>
                <a:ea typeface="Arimo Bold"/>
                <a:cs typeface="Arimo Bold"/>
                <a:sym typeface="Arimo Bold"/>
              </a:rPr>
              <a:t>Delayed supplier reordering.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81215" y="2244814"/>
            <a:ext cx="488347" cy="116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9"/>
              </a:lnSpc>
            </a:pPr>
            <a:r>
              <a:rPr lang="en-US" b="true" sz="6778">
                <a:solidFill>
                  <a:srgbClr val="FBF6F1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41496" y="4636208"/>
            <a:ext cx="488347" cy="116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9"/>
              </a:lnSpc>
            </a:pPr>
            <a:r>
              <a:rPr lang="en-US" b="true" sz="6778">
                <a:solidFill>
                  <a:srgbClr val="FBF6F1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01786" y="7027602"/>
            <a:ext cx="488347" cy="116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9"/>
              </a:lnSpc>
            </a:pPr>
            <a:r>
              <a:rPr lang="en-US" b="true" sz="6778">
                <a:solidFill>
                  <a:srgbClr val="FBF6F1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2337" y="694220"/>
            <a:ext cx="16849725" cy="8943975"/>
            <a:chOff x="0" y="0"/>
            <a:chExt cx="22466300" cy="11925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66300" cy="11925300"/>
            </a:xfrm>
            <a:custGeom>
              <a:avLst/>
              <a:gdLst/>
              <a:ahLst/>
              <a:cxnLst/>
              <a:rect r="r" b="b" t="t" l="l"/>
              <a:pathLst>
                <a:path h="11925300" w="22466300">
                  <a:moveTo>
                    <a:pt x="0" y="0"/>
                  </a:moveTo>
                  <a:lnTo>
                    <a:pt x="22466300" y="0"/>
                  </a:lnTo>
                  <a:lnTo>
                    <a:pt x="22466300" y="11925300"/>
                  </a:lnTo>
                  <a:lnTo>
                    <a:pt x="0" y="1192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64004" y="3706511"/>
            <a:ext cx="6981825" cy="5076825"/>
            <a:chOff x="0" y="0"/>
            <a:chExt cx="9309100" cy="676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09100" cy="6769100"/>
            </a:xfrm>
            <a:custGeom>
              <a:avLst/>
              <a:gdLst/>
              <a:ahLst/>
              <a:cxnLst/>
              <a:rect r="r" b="b" t="t" l="l"/>
              <a:pathLst>
                <a:path h="6769100" w="9309100">
                  <a:moveTo>
                    <a:pt x="0" y="0"/>
                  </a:moveTo>
                  <a:lnTo>
                    <a:pt x="9309100" y="0"/>
                  </a:lnTo>
                  <a:lnTo>
                    <a:pt x="9309100" y="6769100"/>
                  </a:lnTo>
                  <a:lnTo>
                    <a:pt x="0" y="676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574" t="-1043" r="-24" b="-102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500628" y="6505765"/>
            <a:ext cx="853135" cy="83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5"/>
              </a:lnSpc>
            </a:pPr>
            <a:r>
              <a:rPr lang="en-US" b="true" sz="4846" spc="13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27396" y="7583414"/>
            <a:ext cx="73552" cy="36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b="true" sz="2072">
                <a:solidFill>
                  <a:srgbClr val="185079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00628" y="4049182"/>
            <a:ext cx="1036044" cy="86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5"/>
              </a:lnSpc>
            </a:pPr>
            <a:r>
              <a:rPr lang="en-US" b="true" sz="4846" spc="407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  <a:r>
              <a:rPr lang="en-US" b="true" sz="4846" spc="407">
                <a:solidFill>
                  <a:srgbClr val="185079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00628" y="1596161"/>
            <a:ext cx="703717" cy="83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5"/>
              </a:lnSpc>
            </a:pPr>
            <a:r>
              <a:rPr lang="en-US" b="true" sz="4846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26495" y="2612365"/>
            <a:ext cx="47254" cy="22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b="true" sz="1331">
                <a:solidFill>
                  <a:srgbClr val="185079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14880" y="2444105"/>
            <a:ext cx="4688576" cy="378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b="true" sz="2218" spc="133">
                <a:solidFill>
                  <a:srgbClr val="185079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Low-stock alerts help identify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26495" y="2845651"/>
            <a:ext cx="3045057" cy="74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218" spc="133">
                <a:solidFill>
                  <a:srgbClr val="185079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materials that need replenishment.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54235" y="4860446"/>
            <a:ext cx="5477999" cy="1075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b="true" sz="2106" spc="126">
                <a:solidFill>
                  <a:srgbClr val="185079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Smartpackage selection helps choosethe appropriate package size and reduce waste.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90805" y="7583414"/>
            <a:ext cx="4674965" cy="36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b="true" sz="2072" spc="124">
                <a:solidFill>
                  <a:srgbClr val="185079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Thesystem suggests reordering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90805" y="7959023"/>
            <a:ext cx="5456815" cy="71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b="true" sz="2072" spc="124">
                <a:solidFill>
                  <a:srgbClr val="185079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when the stock reaches the minimum level.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0011" y="1434732"/>
            <a:ext cx="5373405" cy="2187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71"/>
              </a:lnSpc>
            </a:pPr>
            <a:r>
              <a:rPr lang="en-US" b="true" sz="791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OUR SOLUTION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181132"/>
            <a:ext cx="8347043" cy="6105868"/>
            <a:chOff x="0" y="0"/>
            <a:chExt cx="11129391" cy="81411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29391" cy="8141208"/>
            </a:xfrm>
            <a:custGeom>
              <a:avLst/>
              <a:gdLst/>
              <a:ahLst/>
              <a:cxnLst/>
              <a:rect r="r" b="b" t="t" l="l"/>
              <a:pathLst>
                <a:path h="8141208" w="11129391">
                  <a:moveTo>
                    <a:pt x="0" y="0"/>
                  </a:moveTo>
                  <a:lnTo>
                    <a:pt x="11129391" y="0"/>
                  </a:lnTo>
                  <a:lnTo>
                    <a:pt x="11129391" y="8141208"/>
                  </a:lnTo>
                  <a:lnTo>
                    <a:pt x="0" y="814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0682" t="0" r="-55" b="-12227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45797" y="0"/>
            <a:ext cx="6042184" cy="6404410"/>
            <a:chOff x="0" y="0"/>
            <a:chExt cx="8056245" cy="85392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56245" cy="8539226"/>
            </a:xfrm>
            <a:custGeom>
              <a:avLst/>
              <a:gdLst/>
              <a:ahLst/>
              <a:cxnLst/>
              <a:rect r="r" b="b" t="t" l="l"/>
              <a:pathLst>
                <a:path h="8539226" w="8056245">
                  <a:moveTo>
                    <a:pt x="0" y="0"/>
                  </a:moveTo>
                  <a:lnTo>
                    <a:pt x="8056245" y="0"/>
                  </a:lnTo>
                  <a:lnTo>
                    <a:pt x="8056245" y="8539226"/>
                  </a:lnTo>
                  <a:lnTo>
                    <a:pt x="0" y="8539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1866" r="-16346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99374" y="537801"/>
            <a:ext cx="7658100" cy="9363075"/>
            <a:chOff x="0" y="0"/>
            <a:chExt cx="10210800" cy="12484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10800" cy="12484100"/>
            </a:xfrm>
            <a:custGeom>
              <a:avLst/>
              <a:gdLst/>
              <a:ahLst/>
              <a:cxnLst/>
              <a:rect r="r" b="b" t="t" l="l"/>
              <a:pathLst>
                <a:path h="12484100" w="10210800">
                  <a:moveTo>
                    <a:pt x="0" y="0"/>
                  </a:moveTo>
                  <a:lnTo>
                    <a:pt x="10210800" y="0"/>
                  </a:lnTo>
                  <a:lnTo>
                    <a:pt x="10210800" y="12484100"/>
                  </a:lnTo>
                  <a:lnTo>
                    <a:pt x="0" y="1248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554" r="0" b="-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982448" y="387972"/>
            <a:ext cx="3745487" cy="117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7"/>
              </a:lnSpc>
            </a:pPr>
            <a:r>
              <a:rPr lang="en-US" b="true" sz="681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4593" y="1321422"/>
            <a:ext cx="7153475" cy="117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7"/>
              </a:lnSpc>
            </a:pPr>
            <a:r>
              <a:rPr lang="en-US" b="true" sz="681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ARCHITECTURE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6566" y="2960846"/>
            <a:ext cx="7702677" cy="632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236">
                <a:solidFill>
                  <a:srgbClr val="185079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1.</a:t>
            </a:r>
            <a:r>
              <a:rPr lang="en-US" sz="3236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</a:t>
            </a:r>
            <a:r>
              <a:rPr lang="en-US" sz="3236">
                <a:solidFill>
                  <a:srgbClr val="185079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InventoryTracking:</a:t>
            </a:r>
          </a:p>
          <a:p>
            <a:pPr algn="l">
              <a:lnSpc>
                <a:spcPts val="4499"/>
              </a:lnSpc>
            </a:pPr>
            <a:r>
              <a:rPr lang="en-US" sz="3236">
                <a:solidFill>
                  <a:srgbClr val="185079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Tracks packaging materials and available quantities.</a:t>
            </a:r>
          </a:p>
          <a:p>
            <a:pPr algn="l" rtl="true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sz="3236">
                <a:solidFill>
                  <a:srgbClr val="185079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2. Smart Package:</a:t>
            </a:r>
          </a:p>
          <a:p>
            <a:pPr algn="l">
              <a:lnSpc>
                <a:spcPts val="4499"/>
              </a:lnSpc>
            </a:pPr>
            <a:r>
              <a:rPr lang="en-US" sz="3236">
                <a:solidFill>
                  <a:srgbClr val="185079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Selects the smallest suitable package for a product.</a:t>
            </a:r>
          </a:p>
          <a:p>
            <a:pPr algn="l" rtl="true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sz="3236">
                <a:solidFill>
                  <a:srgbClr val="185079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3. Supplier Reorder:</a:t>
            </a:r>
          </a:p>
          <a:p>
            <a:pPr algn="l">
              <a:lnSpc>
                <a:spcPts val="4499"/>
              </a:lnSpc>
            </a:pPr>
            <a:r>
              <a:rPr lang="en-US" sz="3236">
                <a:solidFill>
                  <a:srgbClr val="185079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Detects low stock and calculates the required reorder quantity.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8519" y="2499989"/>
            <a:ext cx="6553200" cy="4010025"/>
            <a:chOff x="0" y="0"/>
            <a:chExt cx="8737600" cy="5346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37600" cy="5346700"/>
            </a:xfrm>
            <a:custGeom>
              <a:avLst/>
              <a:gdLst/>
              <a:ahLst/>
              <a:cxnLst/>
              <a:rect r="r" b="b" t="t" l="l"/>
              <a:pathLst>
                <a:path h="5346700" w="8737600">
                  <a:moveTo>
                    <a:pt x="0" y="0"/>
                  </a:moveTo>
                  <a:lnTo>
                    <a:pt x="8737600" y="0"/>
                  </a:lnTo>
                  <a:lnTo>
                    <a:pt x="8737600" y="5346700"/>
                  </a:lnTo>
                  <a:lnTo>
                    <a:pt x="0" y="534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83242" y="3113313"/>
            <a:ext cx="9982200" cy="5772150"/>
            <a:chOff x="0" y="0"/>
            <a:chExt cx="13309600" cy="769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09600" cy="7696200"/>
            </a:xfrm>
            <a:custGeom>
              <a:avLst/>
              <a:gdLst/>
              <a:ahLst/>
              <a:cxnLst/>
              <a:rect r="r" b="b" t="t" l="l"/>
              <a:pathLst>
                <a:path h="7696200" w="13309600">
                  <a:moveTo>
                    <a:pt x="0" y="0"/>
                  </a:moveTo>
                  <a:lnTo>
                    <a:pt x="13309600" y="0"/>
                  </a:lnTo>
                  <a:lnTo>
                    <a:pt x="13309600" y="7696200"/>
                  </a:lnTo>
                  <a:lnTo>
                    <a:pt x="0" y="769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22062" y="298809"/>
            <a:ext cx="5845178" cy="135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83"/>
              </a:lnSpc>
            </a:pPr>
            <a:r>
              <a:rPr lang="en-US" b="true" sz="791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MODULE -1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28641" y="3686089"/>
            <a:ext cx="2489330" cy="44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642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Main Functions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99150" y="4150252"/>
            <a:ext cx="8135464" cy="2720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8"/>
              </a:lnSpc>
            </a:pPr>
            <a:r>
              <a:rPr lang="en-US" sz="2642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Stores package details such as ID, name and quantity.</a:t>
            </a:r>
          </a:p>
          <a:p>
            <a:pPr algn="l">
              <a:lnSpc>
                <a:spcPts val="3598"/>
              </a:lnSpc>
            </a:pPr>
            <a:r>
              <a:rPr lang="en-US" sz="2642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Displays the current stock level.</a:t>
            </a:r>
          </a:p>
          <a:p>
            <a:pPr algn="l">
              <a:lnSpc>
                <a:spcPts val="3598"/>
              </a:lnSpc>
            </a:pPr>
            <a:r>
              <a:rPr lang="en-US" sz="2642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Checks whether the stock is sufficient.</a:t>
            </a:r>
          </a:p>
          <a:p>
            <a:pPr algn="l">
              <a:lnSpc>
                <a:spcPts val="3598"/>
              </a:lnSpc>
            </a:pPr>
            <a:r>
              <a:rPr lang="en-US" sz="2642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Gives a low-stock alert when quantity falls below the minimum level.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99150" y="6895300"/>
            <a:ext cx="1061466" cy="44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642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Helps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31425" y="6895300"/>
            <a:ext cx="1365685" cy="44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642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prevent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62098" y="6895300"/>
            <a:ext cx="852430" cy="44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642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both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89290" y="6895300"/>
            <a:ext cx="1024271" cy="44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642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stock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84978" y="6895300"/>
            <a:ext cx="1770545" cy="44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642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shortages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12730" y="6895300"/>
            <a:ext cx="611181" cy="44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642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and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99150" y="7353757"/>
            <a:ext cx="4451966" cy="44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642">
                <a:solidFill>
                  <a:srgbClr val="FBF6F1"/>
                </a:solidFill>
                <a:latin typeface="Open Sauce"/>
                <a:ea typeface="Open Sauce"/>
                <a:cs typeface="Open Sauce"/>
                <a:sym typeface="Open Sauce"/>
              </a:rPr>
              <a:t>unnecessary overstocking.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49691" y="258889"/>
            <a:ext cx="8764924" cy="131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2"/>
              </a:lnSpc>
            </a:pPr>
            <a:r>
              <a:rPr lang="en-US" sz="7344">
                <a:solidFill>
                  <a:srgbClr val="185079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Inventory Tracking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9110" y="2786482"/>
            <a:ext cx="5761625" cy="284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8"/>
              </a:lnSpc>
            </a:pPr>
            <a:r>
              <a:rPr lang="en-US" sz="3332">
                <a:solidFill>
                  <a:srgbClr val="22549C"/>
                </a:solidFill>
                <a:latin typeface="Open Sauce"/>
                <a:ea typeface="Open Sauce"/>
                <a:cs typeface="Open Sauce"/>
                <a:sym typeface="Open Sauce"/>
              </a:rPr>
              <a:t>Purpose</a:t>
            </a:r>
          </a:p>
          <a:p>
            <a:pPr algn="ctr">
              <a:lnSpc>
                <a:spcPts val="4498"/>
              </a:lnSpc>
            </a:pPr>
            <a:r>
              <a:rPr lang="en-US" sz="3332">
                <a:solidFill>
                  <a:srgbClr val="22549C"/>
                </a:solidFill>
                <a:latin typeface="Open Sauce"/>
                <a:ea typeface="Open Sauce"/>
                <a:cs typeface="Open Sauce"/>
                <a:sym typeface="Open Sauce"/>
              </a:rPr>
              <a:t>The Inventory Tracking Module helps monitor the quantity of packaging materials available in stock.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2023" y="7226522"/>
            <a:ext cx="6892738" cy="249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2"/>
              </a:lnSpc>
            </a:pPr>
            <a:r>
              <a:rPr lang="en-US" sz="4699">
                <a:solidFill>
                  <a:srgbClr val="185079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Class → Object → Constructor → Member Function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936436"/>
            <a:ext cx="7762742" cy="5346573"/>
            <a:chOff x="0" y="0"/>
            <a:chExt cx="10350322" cy="71287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50373" cy="7128764"/>
            </a:xfrm>
            <a:custGeom>
              <a:avLst/>
              <a:gdLst/>
              <a:ahLst/>
              <a:cxnLst/>
              <a:rect r="r" b="b" t="t" l="l"/>
              <a:pathLst>
                <a:path h="7128764" w="10350373">
                  <a:moveTo>
                    <a:pt x="0" y="0"/>
                  </a:moveTo>
                  <a:lnTo>
                    <a:pt x="10350373" y="0"/>
                  </a:lnTo>
                  <a:lnTo>
                    <a:pt x="10350373" y="7128764"/>
                  </a:lnTo>
                  <a:lnTo>
                    <a:pt x="0" y="7128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5030" t="0" r="0" b="-15391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275200" y="0"/>
            <a:ext cx="7012781" cy="5842416"/>
            <a:chOff x="0" y="0"/>
            <a:chExt cx="9350375" cy="77898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50375" cy="7789926"/>
            </a:xfrm>
            <a:custGeom>
              <a:avLst/>
              <a:gdLst/>
              <a:ahLst/>
              <a:cxnLst/>
              <a:rect r="r" b="b" t="t" l="l"/>
              <a:pathLst>
                <a:path h="7789926" w="9350375">
                  <a:moveTo>
                    <a:pt x="0" y="0"/>
                  </a:moveTo>
                  <a:lnTo>
                    <a:pt x="9350375" y="0"/>
                  </a:lnTo>
                  <a:lnTo>
                    <a:pt x="9350375" y="7789926"/>
                  </a:lnTo>
                  <a:lnTo>
                    <a:pt x="0" y="7789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2244" r="-127001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37743" y="453600"/>
            <a:ext cx="14182725" cy="9382125"/>
            <a:chOff x="0" y="0"/>
            <a:chExt cx="18910300" cy="12509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10300" cy="12509500"/>
            </a:xfrm>
            <a:custGeom>
              <a:avLst/>
              <a:gdLst/>
              <a:ahLst/>
              <a:cxnLst/>
              <a:rect r="r" b="b" t="t" l="l"/>
              <a:pathLst>
                <a:path h="12509500" w="18910300">
                  <a:moveTo>
                    <a:pt x="0" y="0"/>
                  </a:moveTo>
                  <a:lnTo>
                    <a:pt x="18910300" y="0"/>
                  </a:lnTo>
                  <a:lnTo>
                    <a:pt x="18910300" y="12509500"/>
                  </a:lnTo>
                  <a:lnTo>
                    <a:pt x="0" y="1250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8519" y="2499989"/>
            <a:ext cx="6553200" cy="4010025"/>
            <a:chOff x="0" y="0"/>
            <a:chExt cx="8737600" cy="5346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37600" cy="5346700"/>
            </a:xfrm>
            <a:custGeom>
              <a:avLst/>
              <a:gdLst/>
              <a:ahLst/>
              <a:cxnLst/>
              <a:rect r="r" b="b" t="t" l="l"/>
              <a:pathLst>
                <a:path h="5346700" w="8737600">
                  <a:moveTo>
                    <a:pt x="0" y="0"/>
                  </a:moveTo>
                  <a:lnTo>
                    <a:pt x="8737600" y="0"/>
                  </a:lnTo>
                  <a:lnTo>
                    <a:pt x="8737600" y="5346700"/>
                  </a:lnTo>
                  <a:lnTo>
                    <a:pt x="0" y="534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83242" y="3113313"/>
            <a:ext cx="9982200" cy="5772150"/>
            <a:chOff x="0" y="0"/>
            <a:chExt cx="13309600" cy="769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09600" cy="7696200"/>
            </a:xfrm>
            <a:custGeom>
              <a:avLst/>
              <a:gdLst/>
              <a:ahLst/>
              <a:cxnLst/>
              <a:rect r="r" b="b" t="t" l="l"/>
              <a:pathLst>
                <a:path h="7696200" w="13309600">
                  <a:moveTo>
                    <a:pt x="0" y="0"/>
                  </a:moveTo>
                  <a:lnTo>
                    <a:pt x="13309600" y="0"/>
                  </a:lnTo>
                  <a:lnTo>
                    <a:pt x="13309600" y="7696200"/>
                  </a:lnTo>
                  <a:lnTo>
                    <a:pt x="0" y="769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22062" y="298809"/>
            <a:ext cx="5773322" cy="135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83"/>
              </a:lnSpc>
            </a:pPr>
            <a:r>
              <a:rPr lang="en-US" b="true" sz="791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MODULE -2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59514" y="3585334"/>
            <a:ext cx="2878712" cy="53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3"/>
              </a:lnSpc>
            </a:pPr>
            <a:r>
              <a:rPr lang="en-US" b="true" sz="3030">
                <a:solidFill>
                  <a:srgbClr val="FBF6F1"/>
                </a:solidFill>
                <a:latin typeface="Arimo Bold"/>
                <a:ea typeface="Arimo Bold"/>
                <a:cs typeface="Arimo Bold"/>
                <a:sym typeface="Arimo Bold"/>
              </a:rPr>
              <a:t>Main Functions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13577" y="4063032"/>
            <a:ext cx="7267108" cy="418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3030">
                <a:solidFill>
                  <a:srgbClr val="FBF6F1"/>
                </a:solidFill>
                <a:latin typeface="Arimo"/>
                <a:ea typeface="Arimo"/>
                <a:cs typeface="Arimo"/>
                <a:sym typeface="Arimo"/>
              </a:rPr>
              <a:t>Takes product length, width and height as input.</a:t>
            </a:r>
          </a:p>
          <a:p>
            <a:pPr algn="l">
              <a:lnSpc>
                <a:spcPts val="4124"/>
              </a:lnSpc>
            </a:pPr>
            <a:r>
              <a:rPr lang="en-US" sz="3030">
                <a:solidFill>
                  <a:srgbClr val="FBF6F1"/>
                </a:solidFill>
                <a:latin typeface="Arimo"/>
                <a:ea typeface="Arimo"/>
                <a:cs typeface="Arimo"/>
                <a:sym typeface="Arimo"/>
              </a:rPr>
              <a:t>Compares the product size with available packages.</a:t>
            </a:r>
          </a:p>
          <a:p>
            <a:pPr algn="l">
              <a:lnSpc>
                <a:spcPts val="4124"/>
              </a:lnSpc>
            </a:pPr>
            <a:r>
              <a:rPr lang="en-US" sz="3030">
                <a:solidFill>
                  <a:srgbClr val="FBF6F1"/>
                </a:solidFill>
                <a:latin typeface="Arimo"/>
                <a:ea typeface="Arimo"/>
                <a:cs typeface="Arimo"/>
                <a:sym typeface="Arimo"/>
              </a:rPr>
              <a:t>Selects the smallest suitable package. Helps reduce unnecessary packaging material.</a:t>
            </a:r>
          </a:p>
          <a:p>
            <a:pPr algn="l">
              <a:lnSpc>
                <a:spcPts val="4124"/>
              </a:lnSpc>
            </a:pPr>
            <a:r>
              <a:rPr lang="en-US" sz="3030">
                <a:solidFill>
                  <a:srgbClr val="FBF6F1"/>
                </a:solidFill>
                <a:latin typeface="Arimo"/>
                <a:ea typeface="Arimo"/>
                <a:cs typeface="Arimo"/>
                <a:sym typeface="Arimo"/>
              </a:rPr>
              <a:t>Supports sustainable packaging.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99258" y="528714"/>
            <a:ext cx="6961432" cy="132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36"/>
              </a:lnSpc>
            </a:pPr>
            <a:r>
              <a:rPr lang="en-US" sz="7383">
                <a:solidFill>
                  <a:srgbClr val="185079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Smart Package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4521" y="2794568"/>
            <a:ext cx="5501878" cy="295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</a:pPr>
            <a:r>
              <a:rPr lang="en-US" b="true" sz="3426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Purpose</a:t>
            </a:r>
          </a:p>
          <a:p>
            <a:pPr algn="ctr">
              <a:lnSpc>
                <a:spcPts val="4725"/>
              </a:lnSpc>
            </a:pPr>
            <a:r>
              <a:rPr lang="en-US" sz="3426">
                <a:solidFill>
                  <a:srgbClr val="185079"/>
                </a:solidFill>
                <a:latin typeface="Arimo"/>
                <a:ea typeface="Arimo"/>
                <a:cs typeface="Arimo"/>
                <a:sym typeface="Arimo"/>
              </a:rPr>
              <a:t>The Smart Package Module selects a suitable package based on the product dimensions.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6975" y="7071970"/>
            <a:ext cx="6519901" cy="235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4"/>
              </a:lnSpc>
            </a:pPr>
            <a:r>
              <a:rPr lang="en-US" b="true" sz="4530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Class → Object → Constructor → Member Function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75200" y="0"/>
            <a:ext cx="7012781" cy="5842416"/>
            <a:chOff x="0" y="0"/>
            <a:chExt cx="9350375" cy="77898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50375" cy="7789926"/>
            </a:xfrm>
            <a:custGeom>
              <a:avLst/>
              <a:gdLst/>
              <a:ahLst/>
              <a:cxnLst/>
              <a:rect r="r" b="b" t="t" l="l"/>
              <a:pathLst>
                <a:path h="7789926" w="9350375">
                  <a:moveTo>
                    <a:pt x="0" y="0"/>
                  </a:moveTo>
                  <a:lnTo>
                    <a:pt x="9350375" y="0"/>
                  </a:lnTo>
                  <a:lnTo>
                    <a:pt x="9350375" y="7789926"/>
                  </a:lnTo>
                  <a:lnTo>
                    <a:pt x="0" y="7789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2244" r="-127001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5143500"/>
            <a:ext cx="7952861" cy="5139290"/>
            <a:chOff x="0" y="0"/>
            <a:chExt cx="10603814" cy="68523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03865" cy="6852412"/>
            </a:xfrm>
            <a:custGeom>
              <a:avLst/>
              <a:gdLst/>
              <a:ahLst/>
              <a:cxnLst/>
              <a:rect r="r" b="b" t="t" l="l"/>
              <a:pathLst>
                <a:path h="6852412" w="10603865">
                  <a:moveTo>
                    <a:pt x="0" y="0"/>
                  </a:moveTo>
                  <a:lnTo>
                    <a:pt x="10603865" y="0"/>
                  </a:lnTo>
                  <a:lnTo>
                    <a:pt x="10603865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087" t="0" r="0" b="-16407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14930" y="77629"/>
            <a:ext cx="13420725" cy="9925050"/>
            <a:chOff x="0" y="0"/>
            <a:chExt cx="17894300" cy="1323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894300" cy="13233400"/>
            </a:xfrm>
            <a:custGeom>
              <a:avLst/>
              <a:gdLst/>
              <a:ahLst/>
              <a:cxnLst/>
              <a:rect r="r" b="b" t="t" l="l"/>
              <a:pathLst>
                <a:path h="13233400" w="17894300">
                  <a:moveTo>
                    <a:pt x="0" y="0"/>
                  </a:moveTo>
                  <a:lnTo>
                    <a:pt x="17894300" y="0"/>
                  </a:lnTo>
                  <a:lnTo>
                    <a:pt x="17894300" y="13233400"/>
                  </a:lnTo>
                  <a:lnTo>
                    <a:pt x="0" y="132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3792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8519" y="2499989"/>
            <a:ext cx="6553200" cy="4010025"/>
            <a:chOff x="0" y="0"/>
            <a:chExt cx="8737600" cy="5346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37600" cy="5346700"/>
            </a:xfrm>
            <a:custGeom>
              <a:avLst/>
              <a:gdLst/>
              <a:ahLst/>
              <a:cxnLst/>
              <a:rect r="r" b="b" t="t" l="l"/>
              <a:pathLst>
                <a:path h="5346700" w="8737600">
                  <a:moveTo>
                    <a:pt x="0" y="0"/>
                  </a:moveTo>
                  <a:lnTo>
                    <a:pt x="8737600" y="0"/>
                  </a:lnTo>
                  <a:lnTo>
                    <a:pt x="8737600" y="5346700"/>
                  </a:lnTo>
                  <a:lnTo>
                    <a:pt x="0" y="534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83242" y="3113313"/>
            <a:ext cx="9982200" cy="5772150"/>
            <a:chOff x="0" y="0"/>
            <a:chExt cx="13309600" cy="769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09600" cy="7696200"/>
            </a:xfrm>
            <a:custGeom>
              <a:avLst/>
              <a:gdLst/>
              <a:ahLst/>
              <a:cxnLst/>
              <a:rect r="r" b="b" t="t" l="l"/>
              <a:pathLst>
                <a:path h="7696200" w="13309600">
                  <a:moveTo>
                    <a:pt x="0" y="0"/>
                  </a:moveTo>
                  <a:lnTo>
                    <a:pt x="13309600" y="0"/>
                  </a:lnTo>
                  <a:lnTo>
                    <a:pt x="13309600" y="7696200"/>
                  </a:lnTo>
                  <a:lnTo>
                    <a:pt x="0" y="769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98519" y="392358"/>
            <a:ext cx="6089361" cy="560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6"/>
              </a:lnSpc>
            </a:pPr>
            <a:r>
              <a:rPr lang="en-US" b="true" sz="791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MODULE -3</a:t>
            </a:r>
          </a:p>
          <a:p>
            <a:pPr algn="ctr">
              <a:lnSpc>
                <a:spcPts val="10806"/>
              </a:lnSpc>
            </a:pPr>
            <a:r>
              <a:rPr lang="en-US" b="true" sz="791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</a:t>
            </a:r>
          </a:p>
          <a:p>
            <a:pPr algn="ctr">
              <a:lnSpc>
                <a:spcPts val="4500"/>
              </a:lnSpc>
            </a:pPr>
            <a:r>
              <a:rPr lang="en-US" b="true" sz="3297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Purpose</a:t>
            </a:r>
          </a:p>
          <a:p>
            <a:pPr algn="ctr">
              <a:lnSpc>
                <a:spcPts val="4500"/>
              </a:lnSpc>
            </a:pPr>
            <a:r>
              <a:rPr lang="en-US" sz="3297">
                <a:solidFill>
                  <a:srgbClr val="185079"/>
                </a:solidFill>
                <a:latin typeface="Arimo"/>
                <a:ea typeface="Arimo"/>
                <a:cs typeface="Arimo"/>
                <a:sym typeface="Arimo"/>
              </a:rPr>
              <a:t>The Supplier Reorder Module checks the packaging stock and suggests reordering when the quantity becomes low.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06266" y="3574532"/>
            <a:ext cx="3420837" cy="634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2"/>
              </a:lnSpc>
            </a:pPr>
            <a:r>
              <a:rPr lang="en-US" b="true" sz="3601">
                <a:solidFill>
                  <a:srgbClr val="FBF6F1"/>
                </a:solidFill>
                <a:latin typeface="Arimo Bold"/>
                <a:ea typeface="Arimo Bold"/>
                <a:cs typeface="Arimo Bold"/>
                <a:sym typeface="Arimo Bold"/>
              </a:rPr>
              <a:t>Main Functions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83573" y="4142242"/>
            <a:ext cx="8323821" cy="376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8"/>
              </a:lnSpc>
            </a:pPr>
            <a:r>
              <a:rPr lang="en-US" sz="3601">
                <a:solidFill>
                  <a:srgbClr val="FBF6F1"/>
                </a:solidFill>
                <a:latin typeface="Arimo"/>
                <a:ea typeface="Arimo"/>
                <a:cs typeface="Arimo"/>
                <a:sym typeface="Arimo"/>
              </a:rPr>
              <a:t>Checks the current stock level. Compares stock with the minimum required level.</a:t>
            </a:r>
          </a:p>
          <a:p>
            <a:pPr algn="l">
              <a:lnSpc>
                <a:spcPts val="4948"/>
              </a:lnSpc>
            </a:pPr>
            <a:r>
              <a:rPr lang="en-US" sz="3601">
                <a:solidFill>
                  <a:srgbClr val="FBF6F1"/>
                </a:solidFill>
                <a:latin typeface="Arimo"/>
                <a:ea typeface="Arimo"/>
                <a:cs typeface="Arimo"/>
                <a:sym typeface="Arimo"/>
              </a:rPr>
              <a:t>Identifies when a reorder is needed. Calculates the required reorder quantity. Displays the supplier details.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15151" y="419214"/>
            <a:ext cx="7485440" cy="123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4"/>
              </a:lnSpc>
            </a:pPr>
            <a:r>
              <a:rPr lang="en-US" sz="6874">
                <a:solidFill>
                  <a:srgbClr val="185079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Supplier Reorder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6975" y="7071970"/>
            <a:ext cx="6519901" cy="235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4"/>
              </a:lnSpc>
            </a:pPr>
            <a:r>
              <a:rPr lang="en-US" b="true" sz="4530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Class → Object → Constructor → Member Function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7762742" cy="5479761"/>
            <a:chOff x="0" y="0"/>
            <a:chExt cx="10350322" cy="73063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50373" cy="7306310"/>
            </a:xfrm>
            <a:custGeom>
              <a:avLst/>
              <a:gdLst/>
              <a:ahLst/>
              <a:cxnLst/>
              <a:rect r="r" b="b" t="t" l="l"/>
              <a:pathLst>
                <a:path h="7306310" w="10350373">
                  <a:moveTo>
                    <a:pt x="0" y="0"/>
                  </a:moveTo>
                  <a:lnTo>
                    <a:pt x="10350373" y="0"/>
                  </a:lnTo>
                  <a:lnTo>
                    <a:pt x="10350373" y="7306310"/>
                  </a:lnTo>
                  <a:lnTo>
                    <a:pt x="0" y="7306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5030" t="-147672" r="0" b="-7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275200" y="4688738"/>
            <a:ext cx="7012781" cy="5595014"/>
            <a:chOff x="0" y="0"/>
            <a:chExt cx="9350375" cy="74600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50375" cy="7459980"/>
            </a:xfrm>
            <a:custGeom>
              <a:avLst/>
              <a:gdLst/>
              <a:ahLst/>
              <a:cxnLst/>
              <a:rect r="r" b="b" t="t" l="l"/>
              <a:pathLst>
                <a:path h="7459980" w="9350375">
                  <a:moveTo>
                    <a:pt x="0" y="0"/>
                  </a:moveTo>
                  <a:lnTo>
                    <a:pt x="9350375" y="0"/>
                  </a:lnTo>
                  <a:lnTo>
                    <a:pt x="9350375" y="7459980"/>
                  </a:lnTo>
                  <a:lnTo>
                    <a:pt x="0" y="7459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27001" b="-1425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350922" y="261957"/>
            <a:ext cx="13839825" cy="9648825"/>
            <a:chOff x="0" y="0"/>
            <a:chExt cx="18453100" cy="12865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53100" cy="12865100"/>
            </a:xfrm>
            <a:custGeom>
              <a:avLst/>
              <a:gdLst/>
              <a:ahLst/>
              <a:cxnLst/>
              <a:rect r="r" b="b" t="t" l="l"/>
              <a:pathLst>
                <a:path h="12865100" w="18453100">
                  <a:moveTo>
                    <a:pt x="0" y="0"/>
                  </a:moveTo>
                  <a:lnTo>
                    <a:pt x="18453100" y="0"/>
                  </a:lnTo>
                  <a:lnTo>
                    <a:pt x="18453100" y="12865100"/>
                  </a:lnTo>
                  <a:lnTo>
                    <a:pt x="0" y="1286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8688" y="-1566862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7193728" cy="5142205"/>
            <a:chOff x="0" y="0"/>
            <a:chExt cx="9591637" cy="6856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91675" cy="6856222"/>
            </a:xfrm>
            <a:custGeom>
              <a:avLst/>
              <a:gdLst/>
              <a:ahLst/>
              <a:cxnLst/>
              <a:rect r="r" b="b" t="t" l="l"/>
              <a:pathLst>
                <a:path h="6856222" w="9591675">
                  <a:moveTo>
                    <a:pt x="0" y="0"/>
                  </a:moveTo>
                  <a:lnTo>
                    <a:pt x="9591675" y="0"/>
                  </a:lnTo>
                  <a:lnTo>
                    <a:pt x="9591675" y="6856222"/>
                  </a:lnTo>
                  <a:lnTo>
                    <a:pt x="0" y="6856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1248" t="-163931" r="0" b="-7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275200" y="4688738"/>
            <a:ext cx="7012781" cy="5595014"/>
            <a:chOff x="0" y="0"/>
            <a:chExt cx="9350375" cy="74600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50375" cy="7459980"/>
            </a:xfrm>
            <a:custGeom>
              <a:avLst/>
              <a:gdLst/>
              <a:ahLst/>
              <a:cxnLst/>
              <a:rect r="r" b="b" t="t" l="l"/>
              <a:pathLst>
                <a:path h="7459980" w="9350375">
                  <a:moveTo>
                    <a:pt x="0" y="0"/>
                  </a:moveTo>
                  <a:lnTo>
                    <a:pt x="9350375" y="0"/>
                  </a:lnTo>
                  <a:lnTo>
                    <a:pt x="9350375" y="7459980"/>
                  </a:lnTo>
                  <a:lnTo>
                    <a:pt x="0" y="7459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27001" b="-14251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439992" y="595751"/>
            <a:ext cx="11636007" cy="947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2"/>
              </a:lnSpc>
            </a:pPr>
            <a:r>
              <a:rPr lang="en-US" b="true" sz="5437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TECHNOLOGIES AND CONCEPTS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5435" y="2318580"/>
            <a:ext cx="14258820" cy="1660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8"/>
              </a:lnSpc>
            </a:pPr>
            <a:r>
              <a:rPr lang="en-US" b="true" sz="3137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TECHNOLOGY:</a:t>
            </a:r>
          </a:p>
          <a:p>
            <a:pPr algn="l">
              <a:lnSpc>
                <a:spcPts val="1568"/>
              </a:lnSpc>
            </a:pPr>
          </a:p>
          <a:p>
            <a:pPr algn="l">
              <a:lnSpc>
                <a:spcPts val="1468"/>
              </a:lnSpc>
            </a:pPr>
            <a:r>
              <a:rPr lang="en-US" sz="2937">
                <a:solidFill>
                  <a:srgbClr val="185079"/>
                </a:solidFill>
                <a:latin typeface="Arimo"/>
                <a:ea typeface="Arimo"/>
                <a:cs typeface="Arimo"/>
                <a:sym typeface="Arimo"/>
              </a:rPr>
              <a:t>Programming Language: C++</a:t>
            </a:r>
          </a:p>
          <a:p>
            <a:pPr algn="l">
              <a:lnSpc>
                <a:spcPts val="6630"/>
              </a:lnSpc>
            </a:pPr>
            <a:r>
              <a:rPr lang="en-US" sz="2937">
                <a:solidFill>
                  <a:srgbClr val="185079"/>
                </a:solidFill>
                <a:latin typeface="Arimo"/>
                <a:ea typeface="Arimo"/>
                <a:cs typeface="Arimo"/>
                <a:sym typeface="Arimo"/>
              </a:rPr>
              <a:t>Programming Paradigm: Object-Oriented Programming (OOP)</a:t>
            </a:r>
          </a:p>
          <a:p>
            <a:pPr algn="l">
              <a:lnSpc>
                <a:spcPts val="1468"/>
              </a:lnSpc>
            </a:pPr>
            <a:r>
              <a:rPr lang="en-US" sz="2937">
                <a:solidFill>
                  <a:srgbClr val="185079"/>
                </a:solidFill>
                <a:latin typeface="Arimo"/>
                <a:ea typeface="Arimo"/>
                <a:cs typeface="Arimo"/>
                <a:sym typeface="Arimo"/>
              </a:rPr>
              <a:t>Interface Type: Console/menu-driven application (typical for such C++ OOP projects)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9885" y="5129908"/>
            <a:ext cx="120120" cy="57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2"/>
              </a:lnSpc>
            </a:pPr>
            <a:r>
              <a:rPr lang="en-US" b="true" sz="3337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5435" y="5684691"/>
            <a:ext cx="17007326" cy="3592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2937">
                <a:solidFill>
                  <a:srgbClr val="185079"/>
                </a:solidFill>
                <a:latin typeface="Arimo"/>
                <a:ea typeface="Arimo"/>
                <a:cs typeface="Arimo"/>
                <a:sym typeface="Arimo"/>
              </a:rPr>
              <a:t>Classes – Blueprints for Inventory items, Packages, and Suppliers.</a:t>
            </a:r>
          </a:p>
          <a:p>
            <a:pPr algn="l">
              <a:lnSpc>
                <a:spcPts val="4051"/>
              </a:lnSpc>
            </a:pPr>
            <a:r>
              <a:rPr lang="en-US" sz="2937">
                <a:solidFill>
                  <a:srgbClr val="185079"/>
                </a:solidFill>
                <a:latin typeface="Arimo"/>
                <a:ea typeface="Arimo"/>
                <a:cs typeface="Arimo"/>
                <a:sym typeface="Arimo"/>
              </a:rPr>
              <a:t>Objects – Real instances representing actual stock items, package options, and supplier records. Encapsulation – Groups data (quantity, dimensions, supplier details) with related functions, protecting internal details.</a:t>
            </a:r>
          </a:p>
          <a:p>
            <a:pPr algn="l">
              <a:lnSpc>
                <a:spcPts val="4051"/>
              </a:lnSpc>
            </a:pPr>
            <a:r>
              <a:rPr lang="en-US" sz="2937">
                <a:solidFill>
                  <a:srgbClr val="185079"/>
                </a:solidFill>
                <a:latin typeface="Arimo"/>
                <a:ea typeface="Arimo"/>
                <a:cs typeface="Arimo"/>
                <a:sym typeface="Arimo"/>
              </a:rPr>
              <a:t>Constructors – Auto-initialize object data when items/packages/suppliers are created.</a:t>
            </a:r>
          </a:p>
          <a:p>
            <a:pPr algn="l">
              <a:lnSpc>
                <a:spcPts val="4051"/>
              </a:lnSpc>
            </a:pPr>
            <a:r>
              <a:rPr lang="en-US" sz="2937">
                <a:solidFill>
                  <a:srgbClr val="185079"/>
                </a:solidFill>
                <a:latin typeface="Arimo"/>
                <a:ea typeface="Arimo"/>
                <a:cs typeface="Arimo"/>
                <a:sym typeface="Arimo"/>
              </a:rPr>
              <a:t>Member Functions – Perform core logic: checking stock, comparing dimensions, calculating reorder quantity.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5435" y="5129908"/>
            <a:ext cx="3619367" cy="57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2"/>
              </a:lnSpc>
            </a:pPr>
            <a:r>
              <a:rPr lang="en-US" b="true" sz="3337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OOP</a:t>
            </a:r>
            <a:r>
              <a:rPr lang="en-US" b="true" sz="333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true" sz="3337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CONCEPTS: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2498" y="2212629"/>
            <a:ext cx="11830050" cy="5410200"/>
            <a:chOff x="0" y="0"/>
            <a:chExt cx="15773400" cy="721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73400" cy="7213600"/>
            </a:xfrm>
            <a:custGeom>
              <a:avLst/>
              <a:gdLst/>
              <a:ahLst/>
              <a:cxnLst/>
              <a:rect r="r" b="b" t="t" l="l"/>
              <a:pathLst>
                <a:path h="7213600" w="15773400">
                  <a:moveTo>
                    <a:pt x="0" y="0"/>
                  </a:moveTo>
                  <a:lnTo>
                    <a:pt x="15773400" y="0"/>
                  </a:lnTo>
                  <a:lnTo>
                    <a:pt x="15773400" y="7213600"/>
                  </a:lnTo>
                  <a:lnTo>
                    <a:pt x="0" y="721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82961" y="6005284"/>
            <a:ext cx="5791200" cy="3619500"/>
            <a:chOff x="0" y="0"/>
            <a:chExt cx="7721600" cy="482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216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4826000"/>
                  </a:lnTo>
                  <a:lnTo>
                    <a:pt x="0" y="482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82961" y="1847498"/>
            <a:ext cx="5572125" cy="3695700"/>
            <a:chOff x="0" y="0"/>
            <a:chExt cx="7429500" cy="492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29500" cy="4927600"/>
            </a:xfrm>
            <a:custGeom>
              <a:avLst/>
              <a:gdLst/>
              <a:ahLst/>
              <a:cxnLst/>
              <a:rect r="r" b="b" t="t" l="l"/>
              <a:pathLst>
                <a:path h="4927600" w="7429500">
                  <a:moveTo>
                    <a:pt x="0" y="0"/>
                  </a:moveTo>
                  <a:lnTo>
                    <a:pt x="7429500" y="0"/>
                  </a:lnTo>
                  <a:lnTo>
                    <a:pt x="7429500" y="4927600"/>
                  </a:lnTo>
                  <a:lnTo>
                    <a:pt x="0" y="492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96738" y="6434995"/>
            <a:ext cx="5457825" cy="3314700"/>
            <a:chOff x="0" y="0"/>
            <a:chExt cx="7277100" cy="441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77100" cy="4419600"/>
            </a:xfrm>
            <a:custGeom>
              <a:avLst/>
              <a:gdLst/>
              <a:ahLst/>
              <a:cxnLst/>
              <a:rect r="r" b="b" t="t" l="l"/>
              <a:pathLst>
                <a:path h="4419600" w="7277100">
                  <a:moveTo>
                    <a:pt x="0" y="0"/>
                  </a:moveTo>
                  <a:lnTo>
                    <a:pt x="7277100" y="0"/>
                  </a:lnTo>
                  <a:lnTo>
                    <a:pt x="7277100" y="4419600"/>
                  </a:lnTo>
                  <a:lnTo>
                    <a:pt x="0" y="441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74192" y="3172968"/>
            <a:ext cx="97536" cy="97536"/>
          </a:xfrm>
          <a:custGeom>
            <a:avLst/>
            <a:gdLst/>
            <a:ahLst/>
            <a:cxnLst/>
            <a:rect r="r" b="b" t="t" l="l"/>
            <a:pathLst>
              <a:path h="97536" w="97536">
                <a:moveTo>
                  <a:pt x="0" y="0"/>
                </a:moveTo>
                <a:lnTo>
                  <a:pt x="97536" y="0"/>
                </a:lnTo>
                <a:lnTo>
                  <a:pt x="97536" y="97536"/>
                </a:lnTo>
                <a:lnTo>
                  <a:pt x="0" y="975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74192" y="3685032"/>
            <a:ext cx="97536" cy="97536"/>
          </a:xfrm>
          <a:custGeom>
            <a:avLst/>
            <a:gdLst/>
            <a:ahLst/>
            <a:cxnLst/>
            <a:rect r="r" b="b" t="t" l="l"/>
            <a:pathLst>
              <a:path h="97536" w="97536">
                <a:moveTo>
                  <a:pt x="0" y="0"/>
                </a:moveTo>
                <a:lnTo>
                  <a:pt x="97536" y="0"/>
                </a:lnTo>
                <a:lnTo>
                  <a:pt x="97536" y="97536"/>
                </a:lnTo>
                <a:lnTo>
                  <a:pt x="0" y="975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74192" y="4712208"/>
            <a:ext cx="97536" cy="97536"/>
          </a:xfrm>
          <a:custGeom>
            <a:avLst/>
            <a:gdLst/>
            <a:ahLst/>
            <a:cxnLst/>
            <a:rect r="r" b="b" t="t" l="l"/>
            <a:pathLst>
              <a:path h="97536" w="97536">
                <a:moveTo>
                  <a:pt x="0" y="0"/>
                </a:moveTo>
                <a:lnTo>
                  <a:pt x="97536" y="0"/>
                </a:lnTo>
                <a:lnTo>
                  <a:pt x="97536" y="97536"/>
                </a:lnTo>
                <a:lnTo>
                  <a:pt x="0" y="975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790944" y="5096256"/>
            <a:ext cx="88392" cy="88392"/>
          </a:xfrm>
          <a:custGeom>
            <a:avLst/>
            <a:gdLst/>
            <a:ahLst/>
            <a:cxnLst/>
            <a:rect r="r" b="b" t="t" l="l"/>
            <a:pathLst>
              <a:path h="88392" w="88392">
                <a:moveTo>
                  <a:pt x="0" y="0"/>
                </a:moveTo>
                <a:lnTo>
                  <a:pt x="88392" y="0"/>
                </a:lnTo>
                <a:lnTo>
                  <a:pt x="88392" y="88392"/>
                </a:lnTo>
                <a:lnTo>
                  <a:pt x="0" y="883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790944" y="5571744"/>
            <a:ext cx="88392" cy="88392"/>
          </a:xfrm>
          <a:custGeom>
            <a:avLst/>
            <a:gdLst/>
            <a:ahLst/>
            <a:cxnLst/>
            <a:rect r="r" b="b" t="t" l="l"/>
            <a:pathLst>
              <a:path h="88392" w="88392">
                <a:moveTo>
                  <a:pt x="0" y="0"/>
                </a:moveTo>
                <a:lnTo>
                  <a:pt x="88392" y="0"/>
                </a:lnTo>
                <a:lnTo>
                  <a:pt x="88392" y="88392"/>
                </a:lnTo>
                <a:lnTo>
                  <a:pt x="0" y="883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790944" y="6525768"/>
            <a:ext cx="88392" cy="88392"/>
          </a:xfrm>
          <a:custGeom>
            <a:avLst/>
            <a:gdLst/>
            <a:ahLst/>
            <a:cxnLst/>
            <a:rect r="r" b="b" t="t" l="l"/>
            <a:pathLst>
              <a:path h="88392" w="88392">
                <a:moveTo>
                  <a:pt x="0" y="0"/>
                </a:moveTo>
                <a:lnTo>
                  <a:pt x="88392" y="0"/>
                </a:lnTo>
                <a:lnTo>
                  <a:pt x="88392" y="88392"/>
                </a:lnTo>
                <a:lnTo>
                  <a:pt x="0" y="883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624816" y="6961632"/>
            <a:ext cx="76200" cy="73152"/>
          </a:xfrm>
          <a:custGeom>
            <a:avLst/>
            <a:gdLst/>
            <a:ahLst/>
            <a:cxnLst/>
            <a:rect r="r" b="b" t="t" l="l"/>
            <a:pathLst>
              <a:path h="73152" w="76200">
                <a:moveTo>
                  <a:pt x="0" y="0"/>
                </a:moveTo>
                <a:lnTo>
                  <a:pt x="76200" y="0"/>
                </a:lnTo>
                <a:lnTo>
                  <a:pt x="76200" y="73152"/>
                </a:lnTo>
                <a:lnTo>
                  <a:pt x="0" y="7315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624816" y="7354824"/>
            <a:ext cx="76200" cy="73152"/>
          </a:xfrm>
          <a:custGeom>
            <a:avLst/>
            <a:gdLst/>
            <a:ahLst/>
            <a:cxnLst/>
            <a:rect r="r" b="b" t="t" l="l"/>
            <a:pathLst>
              <a:path h="73152" w="76200">
                <a:moveTo>
                  <a:pt x="0" y="0"/>
                </a:moveTo>
                <a:lnTo>
                  <a:pt x="76200" y="0"/>
                </a:lnTo>
                <a:lnTo>
                  <a:pt x="76200" y="73152"/>
                </a:lnTo>
                <a:lnTo>
                  <a:pt x="0" y="7315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624816" y="7748016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624816" y="8141208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266220" y="557193"/>
            <a:ext cx="7395400" cy="138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8"/>
              </a:lnSpc>
            </a:pPr>
            <a:r>
              <a:rPr lang="en-US" b="true" sz="810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ADVANTAGES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12428" y="6432575"/>
            <a:ext cx="1347997" cy="39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b="true" sz="2256">
                <a:solidFill>
                  <a:srgbClr val="FBF6F1"/>
                </a:solidFill>
                <a:latin typeface="Arimo Bold"/>
                <a:ea typeface="Arimo Bold"/>
                <a:cs typeface="Arimo Bold"/>
                <a:sym typeface="Arimo Bold"/>
              </a:rPr>
              <a:t>Technical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99536" y="6839845"/>
            <a:ext cx="5083131" cy="19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b="true" sz="2256">
                <a:solidFill>
                  <a:srgbClr val="FBF6F1"/>
                </a:solidFill>
                <a:latin typeface="Arimo Bold"/>
                <a:ea typeface="Arimo Bold"/>
                <a:cs typeface="Arimo Bold"/>
                <a:sym typeface="Arimo Bold"/>
              </a:rPr>
              <a:t>Simple OOP-based structure. Modular design.</a:t>
            </a:r>
          </a:p>
          <a:p>
            <a:pPr algn="l">
              <a:lnSpc>
                <a:spcPts val="3075"/>
              </a:lnSpc>
            </a:pPr>
            <a:r>
              <a:rPr lang="en-US" b="true" sz="2256">
                <a:solidFill>
                  <a:srgbClr val="FBF6F1"/>
                </a:solidFill>
                <a:latin typeface="Arimo Bold"/>
                <a:ea typeface="Arimo Bold"/>
                <a:cs typeface="Arimo Bold"/>
                <a:sym typeface="Arimo Bold"/>
              </a:rPr>
              <a:t>Easy to modify and extend.</a:t>
            </a:r>
          </a:p>
          <a:p>
            <a:pPr algn="l">
              <a:lnSpc>
                <a:spcPts val="3075"/>
              </a:lnSpc>
            </a:pPr>
            <a:r>
              <a:rPr lang="en-US" b="true" sz="2256">
                <a:solidFill>
                  <a:srgbClr val="FBF6F1"/>
                </a:solidFill>
                <a:latin typeface="Arimo Bold"/>
                <a:ea typeface="Arimo Bold"/>
                <a:cs typeface="Arimo Bold"/>
                <a:sym typeface="Arimo Bold"/>
              </a:rPr>
              <a:t>Classes can be reused for additional features.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32616" y="4456376"/>
            <a:ext cx="1963741" cy="48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9"/>
              </a:lnSpc>
            </a:pPr>
            <a:r>
              <a:rPr lang="en-US" b="true" sz="2728">
                <a:solidFill>
                  <a:srgbClr val="FBF6F1"/>
                </a:solidFill>
                <a:latin typeface="Arimo Bold"/>
                <a:ea typeface="Arimo Bold"/>
                <a:cs typeface="Arimo Bold"/>
                <a:sym typeface="Arimo Bold"/>
              </a:rPr>
              <a:t>Operational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21566" y="4946818"/>
            <a:ext cx="4556093" cy="190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8"/>
              </a:lnSpc>
            </a:pPr>
            <a:r>
              <a:rPr lang="en-US" b="true" sz="2728">
                <a:solidFill>
                  <a:srgbClr val="FBF6F1"/>
                </a:solidFill>
                <a:latin typeface="Arimo Bold"/>
                <a:ea typeface="Arimo Bold"/>
                <a:cs typeface="Arimo Bold"/>
                <a:sym typeface="Arimo Bold"/>
              </a:rPr>
              <a:t>Easy inventory monitoring. Quick identification of low stock.</a:t>
            </a:r>
          </a:p>
          <a:p>
            <a:pPr algn="l">
              <a:lnSpc>
                <a:spcPts val="3748"/>
              </a:lnSpc>
            </a:pPr>
            <a:r>
              <a:rPr lang="en-US" b="true" sz="2728">
                <a:solidFill>
                  <a:srgbClr val="FBF6F1"/>
                </a:solidFill>
                <a:latin typeface="Arimo Bold"/>
                <a:ea typeface="Arimo Bold"/>
                <a:cs typeface="Arimo Bold"/>
                <a:sym typeface="Arimo Bold"/>
              </a:rPr>
              <a:t>Timely supplier reordering.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6738" y="2483206"/>
            <a:ext cx="2642378" cy="516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2"/>
              </a:lnSpc>
            </a:pPr>
            <a:r>
              <a:rPr lang="en-US" b="true" sz="2937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Environmental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0741" y="3015291"/>
            <a:ext cx="4736001" cy="252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b="true" sz="2937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Reduces packagingw aste.</a:t>
            </a:r>
          </a:p>
          <a:p>
            <a:pPr algn="l">
              <a:lnSpc>
                <a:spcPts val="3995"/>
              </a:lnSpc>
            </a:pPr>
            <a:r>
              <a:rPr lang="en-US" b="true" sz="2937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Encourages appropriate package sizes.</a:t>
            </a:r>
          </a:p>
          <a:p>
            <a:pPr algn="l">
              <a:lnSpc>
                <a:spcPts val="3995"/>
              </a:lnSpc>
            </a:pPr>
            <a:r>
              <a:rPr lang="en-US" b="true" sz="2937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Supports sustainable materials.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2337" y="694277"/>
            <a:ext cx="16859250" cy="8896350"/>
            <a:chOff x="0" y="0"/>
            <a:chExt cx="22479000" cy="11861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79000" cy="11861800"/>
            </a:xfrm>
            <a:custGeom>
              <a:avLst/>
              <a:gdLst/>
              <a:ahLst/>
              <a:cxnLst/>
              <a:rect r="r" b="b" t="t" l="l"/>
              <a:pathLst>
                <a:path h="118618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11861800"/>
                  </a:lnTo>
                  <a:lnTo>
                    <a:pt x="0" y="1186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848417" y="2110369"/>
            <a:ext cx="7327849" cy="135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83"/>
              </a:lnSpc>
            </a:pPr>
            <a:r>
              <a:rPr lang="en-US" b="true" sz="791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CONCLUSION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66842" y="3679575"/>
            <a:ext cx="12684338" cy="431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75"/>
              </a:lnSpc>
            </a:pPr>
            <a:r>
              <a:rPr lang="en-US" b="true" sz="36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system helps manage e-commerce packaging efficiently.</a:t>
            </a:r>
          </a:p>
          <a:p>
            <a:pPr algn="just">
              <a:lnSpc>
                <a:spcPts val="4875"/>
              </a:lnSpc>
            </a:pPr>
            <a:r>
              <a:rPr lang="en-US" b="true" sz="36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Smart Package selects a suitable package size. Supplier Reorder helps maintain sufficient stock.</a:t>
            </a:r>
          </a:p>
          <a:p>
            <a:pPr algn="just">
              <a:lnSpc>
                <a:spcPts val="4875"/>
              </a:lnSpc>
            </a:pPr>
            <a:r>
              <a:rPr lang="en-US" b="true" sz="36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 reduces unnecessary packaging and material waste. Overall, the system supports efficient and sustainable e-commerce packaging management.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608034" y="0"/>
            <a:ext cx="12679966" cy="10287000"/>
            <a:chOff x="0" y="0"/>
            <a:chExt cx="16906621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906621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906621">
                  <a:moveTo>
                    <a:pt x="0" y="0"/>
                  </a:moveTo>
                  <a:lnTo>
                    <a:pt x="16906621" y="0"/>
                  </a:lnTo>
                  <a:lnTo>
                    <a:pt x="1690662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965" r="-75000" b="-4191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6254" y="418938"/>
            <a:ext cx="6563039" cy="128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81"/>
              </a:lnSpc>
            </a:pPr>
            <a:r>
              <a:rPr lang="en-US" b="true" sz="7415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REFERENCES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55824" y="2060743"/>
            <a:ext cx="96336" cy="46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b="true" sz="2676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4350" y="2060743"/>
            <a:ext cx="17604362" cy="46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b="true" sz="2676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•1. J. Park, A.Waqar, andL.V. Snyder,"Environmental Analysis of Returnable Packaging Systems 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4350" y="2536993"/>
            <a:ext cx="17604419" cy="92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b="true" sz="2676" spc="26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Different E-Commerce Business and Packaging Management Models," Journal of Industrial Ecology, vol. 28, no. 2, pp. 345–361, 2024.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4350" y="3833241"/>
            <a:ext cx="17604476" cy="92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b="true" sz="2676" spc="16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•2. B. Frommeyer et al., "Recycled or Reusable: A Multi-Method Assessment of Eco-Friendly Packaging in Online Retail," Journal of Industrial Ecology, vol. 28, no. 1, pp. 112–129, 2024.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4350" y="5337343"/>
            <a:ext cx="17604438" cy="92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5"/>
              </a:lnSpc>
            </a:pPr>
            <a:r>
              <a:rPr lang="en-US" b="true" sz="2676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•3. J. Clement and S. Spinler, "Advancing SustainabilityinE-CommercePackaging:ASimulation-Based Study for Managing Returnable TransportItems,"TransportationResearchPartE:Logisticsand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4350" y="4684357"/>
            <a:ext cx="8877138" cy="260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b="true" sz="2676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Transportation Review, vol. 186, Ar</a:t>
            </a:r>
            <a:r>
              <a:rPr lang="en-US" b="true" sz="2676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true" sz="2676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t. no. 103512, 2024.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4350" y="7204243"/>
            <a:ext cx="17604419" cy="92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b="true" sz="2676" spc="61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•4. B. Stroustrup, Programming: Principles and Practice Using C++, 2nd ed. Boston, MA, USA: ddison- Wesley, 2020.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4350" y="8575843"/>
            <a:ext cx="17604448" cy="92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b="true" sz="2676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•5. E. Balagurusamy, Object-Oriented Programming with C++, 8th ed. New Delhi, India: McGraw-Hill Education, 2020.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16150" y="0"/>
            <a:ext cx="12679966" cy="10287000"/>
            <a:chOff x="0" y="0"/>
            <a:chExt cx="16906621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906621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906621">
                  <a:moveTo>
                    <a:pt x="0" y="0"/>
                  </a:moveTo>
                  <a:lnTo>
                    <a:pt x="16906621" y="0"/>
                  </a:lnTo>
                  <a:lnTo>
                    <a:pt x="1690662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965" r="-75000" b="-4191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741945"/>
            <a:ext cx="7027902" cy="114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4"/>
              </a:lnSpc>
              <a:spcBef>
                <a:spcPct val="0"/>
              </a:spcBef>
            </a:pPr>
            <a:r>
              <a:rPr lang="en-US" b="true" sz="6553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</a:rPr>
              <a:t>GITHUB PROFILE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36512" y="4556293"/>
            <a:ext cx="9871234" cy="79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8"/>
              </a:lnSpc>
              <a:spcBef>
                <a:spcPct val="0"/>
              </a:spcBef>
            </a:pPr>
            <a:r>
              <a:rPr lang="en-US" b="true" sz="4513">
                <a:solidFill>
                  <a:srgbClr val="185079"/>
                </a:solidFill>
                <a:latin typeface="Arimo Bold"/>
                <a:ea typeface="Arimo Bold"/>
                <a:cs typeface="Arimo Bold"/>
                <a:sym typeface="Arimo Bold"/>
                <a:hlinkClick r:id="rId4" tooltip="https://github.com/rishithashetty008"/>
              </a:rPr>
              <a:t>https://github.com/rishithashetty008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60500" cy="17894300"/>
            </a:xfrm>
            <a:custGeom>
              <a:avLst/>
              <a:gdLst/>
              <a:ahLst/>
              <a:cxnLst/>
              <a:rect r="r" b="b" t="t" l="l"/>
              <a:pathLst>
                <a:path h="17894300" w="268605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608034" y="0"/>
            <a:ext cx="12679966" cy="10287000"/>
            <a:chOff x="0" y="0"/>
            <a:chExt cx="16906621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906621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906621">
                  <a:moveTo>
                    <a:pt x="0" y="0"/>
                  </a:moveTo>
                  <a:lnTo>
                    <a:pt x="16906621" y="0"/>
                  </a:lnTo>
                  <a:lnTo>
                    <a:pt x="1690662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965" r="-75000" b="-4191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86522" y="3280934"/>
            <a:ext cx="1198216" cy="822246"/>
            <a:chOff x="0" y="0"/>
            <a:chExt cx="1198220" cy="822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635" y="138430"/>
              <a:ext cx="942340" cy="544703"/>
            </a:xfrm>
            <a:custGeom>
              <a:avLst/>
              <a:gdLst/>
              <a:ahLst/>
              <a:cxnLst/>
              <a:rect r="r" b="b" t="t" l="l"/>
              <a:pathLst>
                <a:path h="544703" w="942340">
                  <a:moveTo>
                    <a:pt x="656590" y="0"/>
                  </a:moveTo>
                  <a:lnTo>
                    <a:pt x="399161" y="257683"/>
                  </a:lnTo>
                  <a:lnTo>
                    <a:pt x="456565" y="315087"/>
                  </a:lnTo>
                  <a:lnTo>
                    <a:pt x="714121" y="57404"/>
                  </a:lnTo>
                  <a:lnTo>
                    <a:pt x="656590" y="0"/>
                  </a:lnTo>
                  <a:close/>
                  <a:moveTo>
                    <a:pt x="57404" y="260477"/>
                  </a:moveTo>
                  <a:lnTo>
                    <a:pt x="0" y="318008"/>
                  </a:lnTo>
                  <a:lnTo>
                    <a:pt x="226822" y="544703"/>
                  </a:lnTo>
                  <a:lnTo>
                    <a:pt x="284226" y="487299"/>
                  </a:lnTo>
                  <a:lnTo>
                    <a:pt x="57404" y="260477"/>
                  </a:lnTo>
                  <a:close/>
                  <a:moveTo>
                    <a:pt x="886460" y="0"/>
                  </a:moveTo>
                  <a:lnTo>
                    <a:pt x="456438" y="429895"/>
                  </a:lnTo>
                  <a:lnTo>
                    <a:pt x="287020" y="260477"/>
                  </a:lnTo>
                  <a:lnTo>
                    <a:pt x="229616" y="317881"/>
                  </a:lnTo>
                  <a:lnTo>
                    <a:pt x="456438" y="544703"/>
                  </a:lnTo>
                  <a:lnTo>
                    <a:pt x="942340" y="58801"/>
                  </a:lnTo>
                  <a:lnTo>
                    <a:pt x="942340" y="56007"/>
                  </a:lnTo>
                  <a:lnTo>
                    <a:pt x="886460" y="0"/>
                  </a:lnTo>
                  <a:close/>
                </a:path>
              </a:pathLst>
            </a:custGeom>
            <a:solidFill>
              <a:srgbClr val="3885AB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1071245" cy="695198"/>
            </a:xfrm>
            <a:custGeom>
              <a:avLst/>
              <a:gdLst/>
              <a:ahLst/>
              <a:cxnLst/>
              <a:rect r="r" b="b" t="t" l="l"/>
              <a:pathLst>
                <a:path h="695198" w="1071245">
                  <a:moveTo>
                    <a:pt x="0" y="695198"/>
                  </a:moveTo>
                  <a:lnTo>
                    <a:pt x="1071245" y="695198"/>
                  </a:lnTo>
                  <a:lnTo>
                    <a:pt x="10712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847553" y="3657781"/>
            <a:ext cx="2717016" cy="266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59"/>
              </a:lnSpc>
            </a:pPr>
            <a:r>
              <a:rPr lang="en-US" sz="153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TH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15104" y="3657781"/>
            <a:ext cx="9067371" cy="359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59"/>
              </a:lnSpc>
            </a:pPr>
            <a:r>
              <a:rPr lang="en-US" b="true" sz="1539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</a:t>
            </a:r>
            <a:r>
              <a:rPr lang="en-US" sz="153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DAHUGnVZacs</dc:identifier>
  <dcterms:modified xsi:type="dcterms:W3CDTF">2011-08-01T06:04:30Z</dcterms:modified>
  <cp:revision>1</cp:revision>
  <dc:title>OOP PROJECT.pdf</dc:title>
</cp:coreProperties>
</file>